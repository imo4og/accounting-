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94"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79" r:id="rId34"/>
    <p:sldId id="288" r:id="rId35"/>
    <p:sldId id="289" r:id="rId36"/>
    <p:sldId id="290" r:id="rId37"/>
    <p:sldId id="291" r:id="rId38"/>
    <p:sldId id="292" r:id="rId39"/>
    <p:sldId id="293"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50" autoAdjust="0"/>
    <p:restoredTop sz="94660"/>
  </p:normalViewPr>
  <p:slideViewPr>
    <p:cSldViewPr>
      <p:cViewPr varScale="1">
        <p:scale>
          <a:sx n="64" d="100"/>
          <a:sy n="64" d="100"/>
        </p:scale>
        <p:origin x="1944"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91FE4A-B24D-49F6-ADD1-1C5EEE135100}" type="datetimeFigureOut">
              <a:rPr lang="en-US" smtClean="0"/>
              <a:t>07-Jun-22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4067341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91FE4A-B24D-49F6-ADD1-1C5EEE135100}" type="datetimeFigureOut">
              <a:rPr lang="en-US" smtClean="0"/>
              <a:t>07-Jun-22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1516091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91FE4A-B24D-49F6-ADD1-1C5EEE135100}" type="datetimeFigureOut">
              <a:rPr lang="en-US" smtClean="0"/>
              <a:t>07-Jun-22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381625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91FE4A-B24D-49F6-ADD1-1C5EEE135100}" type="datetimeFigureOut">
              <a:rPr lang="en-US" smtClean="0"/>
              <a:t>07-Jun-22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2561854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91FE4A-B24D-49F6-ADD1-1C5EEE135100}" type="datetimeFigureOut">
              <a:rPr lang="en-US" smtClean="0"/>
              <a:t>07-Jun-22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362855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91FE4A-B24D-49F6-ADD1-1C5EEE135100}" type="datetimeFigureOut">
              <a:rPr lang="en-US" smtClean="0"/>
              <a:t>07-Jun-22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1738654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1FE4A-B24D-49F6-ADD1-1C5EEE135100}" type="datetimeFigureOut">
              <a:rPr lang="en-US" smtClean="0"/>
              <a:t>07-Jun-22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1451643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91FE4A-B24D-49F6-ADD1-1C5EEE135100}" type="datetimeFigureOut">
              <a:rPr lang="en-US" smtClean="0"/>
              <a:t>07-Jun-22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3022778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91FE4A-B24D-49F6-ADD1-1C5EEE135100}" type="datetimeFigureOut">
              <a:rPr lang="en-US" smtClean="0"/>
              <a:t>07-Jun-22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1466227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91FE4A-B24D-49F6-ADD1-1C5EEE135100}" type="datetimeFigureOut">
              <a:rPr lang="en-US" smtClean="0"/>
              <a:t>07-Jun-22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269509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91FE4A-B24D-49F6-ADD1-1C5EEE135100}" type="datetimeFigureOut">
              <a:rPr lang="en-US" smtClean="0"/>
              <a:t>07-Jun-22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22FEB-6CF7-43CC-AF8F-C41283DC5452}" type="slidenum">
              <a:rPr lang="en-US" smtClean="0"/>
              <a:t>‹#›</a:t>
            </a:fld>
            <a:endParaRPr lang="en-US"/>
          </a:p>
        </p:txBody>
      </p:sp>
    </p:spTree>
    <p:extLst>
      <p:ext uri="{BB962C8B-B14F-4D97-AF65-F5344CB8AC3E}">
        <p14:creationId xmlns:p14="http://schemas.microsoft.com/office/powerpoint/2010/main" val="332769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1FE4A-B24D-49F6-ADD1-1C5EEE135100}" type="datetimeFigureOut">
              <a:rPr lang="en-US" smtClean="0"/>
              <a:t>07-Jun-22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2FEB-6CF7-43CC-AF8F-C41283DC5452}" type="slidenum">
              <a:rPr lang="en-US" smtClean="0"/>
              <a:t>‹#›</a:t>
            </a:fld>
            <a:endParaRPr lang="en-US"/>
          </a:p>
        </p:txBody>
      </p:sp>
    </p:spTree>
    <p:extLst>
      <p:ext uri="{BB962C8B-B14F-4D97-AF65-F5344CB8AC3E}">
        <p14:creationId xmlns:p14="http://schemas.microsoft.com/office/powerpoint/2010/main" val="2308617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a:t>Lecture 2</a:t>
            </a:r>
            <a:br>
              <a:rPr lang="en-US" dirty="0"/>
            </a:br>
            <a:endParaRPr lang="en-US" dirty="0"/>
          </a:p>
        </p:txBody>
      </p:sp>
      <p:sp>
        <p:nvSpPr>
          <p:cNvPr id="3" name="Subtitle 2"/>
          <p:cNvSpPr>
            <a:spLocks noGrp="1"/>
          </p:cNvSpPr>
          <p:nvPr>
            <p:ph type="subTitle" idx="1"/>
          </p:nvPr>
        </p:nvSpPr>
        <p:spPr/>
        <p:txBody>
          <a:bodyPr/>
          <a:lstStyle/>
          <a:p>
            <a:r>
              <a:rPr lang="en-US" dirty="0"/>
              <a:t>Lecturer: Emmanuel Isabirye</a:t>
            </a:r>
          </a:p>
        </p:txBody>
      </p:sp>
    </p:spTree>
    <p:extLst>
      <p:ext uri="{BB962C8B-B14F-4D97-AF65-F5344CB8AC3E}">
        <p14:creationId xmlns:p14="http://schemas.microsoft.com/office/powerpoint/2010/main" val="200521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457200"/>
          </a:xfrm>
        </p:spPr>
        <p:txBody>
          <a:bodyPr>
            <a:normAutofit fontScale="90000"/>
          </a:bodyPr>
          <a:lstStyle/>
          <a:p>
            <a:r>
              <a:rPr lang="en-US" sz="5300" b="1" dirty="0"/>
              <a:t>THE ACCOUNTING EQUATION</a:t>
            </a:r>
            <a:br>
              <a:rPr lang="en-US" dirty="0"/>
            </a:br>
            <a:endParaRPr lang="en-US" dirty="0"/>
          </a:p>
        </p:txBody>
      </p:sp>
      <p:sp>
        <p:nvSpPr>
          <p:cNvPr id="3" name="Content Placeholder 2"/>
          <p:cNvSpPr>
            <a:spLocks noGrp="1"/>
          </p:cNvSpPr>
          <p:nvPr>
            <p:ph idx="1"/>
          </p:nvPr>
        </p:nvSpPr>
        <p:spPr>
          <a:xfrm>
            <a:off x="0" y="533400"/>
            <a:ext cx="9144000" cy="6324600"/>
          </a:xfrm>
        </p:spPr>
        <p:txBody>
          <a:bodyPr>
            <a:normAutofit fontScale="92500" lnSpcReduction="10000"/>
          </a:bodyPr>
          <a:lstStyle/>
          <a:p>
            <a:pPr marL="0" indent="0">
              <a:buNone/>
            </a:pPr>
            <a:r>
              <a:rPr lang="en-US" sz="3800" dirty="0"/>
              <a:t>What the business has as its assets must have come from some where perhaps contributed by the owners (capital).</a:t>
            </a:r>
          </a:p>
          <a:p>
            <a:pPr marL="0" indent="0">
              <a:buNone/>
            </a:pPr>
            <a:r>
              <a:rPr lang="en-US" sz="3800" dirty="0"/>
              <a:t>Therefore:</a:t>
            </a:r>
          </a:p>
          <a:p>
            <a:pPr marL="0" indent="0">
              <a:buNone/>
            </a:pPr>
            <a:r>
              <a:rPr lang="en-US" sz="3800" dirty="0"/>
              <a:t>Assets of the business = Capital contributed by the owners.</a:t>
            </a:r>
          </a:p>
          <a:p>
            <a:pPr marL="0" indent="0">
              <a:buNone/>
            </a:pPr>
            <a:r>
              <a:rPr lang="en-US" sz="3800" dirty="0"/>
              <a:t>Usually however, people other than the owners supply some assets to the business. Liabilities are the name given to those assets that are supplied to a business by the people other than the owners. </a:t>
            </a:r>
          </a:p>
          <a:p>
            <a:pPr marL="0" indent="0">
              <a:buNone/>
            </a:pPr>
            <a:r>
              <a:rPr lang="en-US" sz="3800" dirty="0"/>
              <a:t> </a:t>
            </a:r>
          </a:p>
          <a:p>
            <a:endParaRPr lang="en-US" dirty="0"/>
          </a:p>
        </p:txBody>
      </p:sp>
    </p:spTree>
    <p:extLst>
      <p:ext uri="{BB962C8B-B14F-4D97-AF65-F5344CB8AC3E}">
        <p14:creationId xmlns:p14="http://schemas.microsoft.com/office/powerpoint/2010/main" val="283146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rmAutofit fontScale="90000"/>
          </a:bodyPr>
          <a:lstStyle/>
          <a:p>
            <a:r>
              <a:rPr lang="en-US" dirty="0"/>
              <a:t>Cont.</a:t>
            </a:r>
          </a:p>
        </p:txBody>
      </p:sp>
      <p:sp>
        <p:nvSpPr>
          <p:cNvPr id="3" name="Content Placeholder 2"/>
          <p:cNvSpPr>
            <a:spLocks noGrp="1"/>
          </p:cNvSpPr>
          <p:nvPr>
            <p:ph idx="1"/>
          </p:nvPr>
        </p:nvSpPr>
        <p:spPr>
          <a:xfrm>
            <a:off x="0" y="381000"/>
            <a:ext cx="9144000" cy="6477000"/>
          </a:xfrm>
        </p:spPr>
        <p:txBody>
          <a:bodyPr>
            <a:normAutofit/>
          </a:bodyPr>
          <a:lstStyle/>
          <a:p>
            <a:pPr marL="0" indent="0">
              <a:buNone/>
            </a:pPr>
            <a:r>
              <a:rPr lang="en-US" dirty="0"/>
              <a:t>The equation can then be adjusted to become </a:t>
            </a:r>
          </a:p>
          <a:p>
            <a:pPr marL="0" indent="0">
              <a:buNone/>
            </a:pPr>
            <a:r>
              <a:rPr lang="en-US" dirty="0"/>
              <a:t>Assets = Capital + liabilities</a:t>
            </a:r>
          </a:p>
          <a:p>
            <a:pPr marL="0" indent="0">
              <a:buNone/>
            </a:pPr>
            <a:r>
              <a:rPr lang="en-US" dirty="0"/>
              <a:t>The value of the assets, capital or liabilities may change but the total of the assets will always equal the total of capital plus liabilities.</a:t>
            </a:r>
          </a:p>
          <a:p>
            <a:pPr marL="0" indent="0">
              <a:buNone/>
            </a:pPr>
            <a:r>
              <a:rPr lang="en-US" dirty="0"/>
              <a:t>Assets consist of property of all kinds such as buildings, machinery, stocks, cash, motor vehicles, debtors, money in the bank etc.</a:t>
            </a:r>
          </a:p>
          <a:p>
            <a:pPr marL="0" indent="0">
              <a:buNone/>
            </a:pPr>
            <a:r>
              <a:rPr lang="en-US" dirty="0"/>
              <a:t>Liabilities include amounts owed by the business for goods and services supplied and for expenses incurred that have not been paid for and funds borrowed by the business.</a:t>
            </a:r>
          </a:p>
          <a:p>
            <a:endParaRPr lang="en-US" dirty="0"/>
          </a:p>
        </p:txBody>
      </p:sp>
    </p:spTree>
    <p:extLst>
      <p:ext uri="{BB962C8B-B14F-4D97-AF65-F5344CB8AC3E}">
        <p14:creationId xmlns:p14="http://schemas.microsoft.com/office/powerpoint/2010/main" val="7730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a:t>Cont.</a:t>
            </a:r>
          </a:p>
        </p:txBody>
      </p:sp>
      <p:sp>
        <p:nvSpPr>
          <p:cNvPr id="3" name="Content Placeholder 2"/>
          <p:cNvSpPr>
            <a:spLocks noGrp="1"/>
          </p:cNvSpPr>
          <p:nvPr>
            <p:ph idx="1"/>
          </p:nvPr>
        </p:nvSpPr>
        <p:spPr>
          <a:xfrm>
            <a:off x="0" y="533400"/>
            <a:ext cx="9144000" cy="6324600"/>
          </a:xfrm>
        </p:spPr>
        <p:txBody>
          <a:bodyPr/>
          <a:lstStyle/>
          <a:p>
            <a:pPr marL="0" indent="0">
              <a:buNone/>
            </a:pPr>
            <a:r>
              <a:rPr lang="en-US" sz="3600" dirty="0"/>
              <a:t>Capital is often called the owner’s equity or the net worth. It comprises the funds invested in the business by the owner plus any profits made and retained for use in the business less any profits paid out of the business to the owners.</a:t>
            </a:r>
          </a:p>
          <a:p>
            <a:pPr marL="0" indent="0">
              <a:buNone/>
            </a:pPr>
            <a:r>
              <a:rPr lang="en-US" sz="3600" dirty="0"/>
              <a:t>The accounting equation is expressed in a financial position statement called the balance sheet.</a:t>
            </a:r>
          </a:p>
          <a:p>
            <a:pPr marL="0" indent="0">
              <a:buNone/>
            </a:pPr>
            <a:endParaRPr lang="en-US" sz="3600" dirty="0"/>
          </a:p>
          <a:p>
            <a:endParaRPr lang="en-US" dirty="0"/>
          </a:p>
        </p:txBody>
      </p:sp>
    </p:spTree>
    <p:extLst>
      <p:ext uri="{BB962C8B-B14F-4D97-AF65-F5344CB8AC3E}">
        <p14:creationId xmlns:p14="http://schemas.microsoft.com/office/powerpoint/2010/main" val="338839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a:t>Cont.</a:t>
            </a:r>
          </a:p>
        </p:txBody>
      </p:sp>
      <p:sp>
        <p:nvSpPr>
          <p:cNvPr id="3" name="Content Placeholder 2"/>
          <p:cNvSpPr>
            <a:spLocks noGrp="1"/>
          </p:cNvSpPr>
          <p:nvPr>
            <p:ph idx="1"/>
          </p:nvPr>
        </p:nvSpPr>
        <p:spPr>
          <a:xfrm>
            <a:off x="0" y="609600"/>
            <a:ext cx="9144000" cy="6248400"/>
          </a:xfrm>
        </p:spPr>
        <p:txBody>
          <a:bodyPr/>
          <a:lstStyle/>
          <a:p>
            <a:r>
              <a:rPr lang="en-US" sz="3600" dirty="0"/>
              <a:t>The balance sheet shows the financial position of an organization at a point in time. The balance sheet shows the assets of the business less the liabilities which equals the net worth of the business (capital)</a:t>
            </a:r>
          </a:p>
          <a:p>
            <a:pPr marL="0" indent="0">
              <a:buNone/>
            </a:pPr>
            <a:endParaRPr lang="en-US" dirty="0"/>
          </a:p>
        </p:txBody>
      </p:sp>
    </p:spTree>
    <p:extLst>
      <p:ext uri="{BB962C8B-B14F-4D97-AF65-F5344CB8AC3E}">
        <p14:creationId xmlns:p14="http://schemas.microsoft.com/office/powerpoint/2010/main" val="1499477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a:t>Cont.</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685800"/>
            <a:ext cx="9144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8290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0"/>
            <a:ext cx="8229600" cy="533400"/>
          </a:xfrm>
        </p:spPr>
        <p:txBody>
          <a:bodyPr>
            <a:normAutofit fontScale="90000"/>
          </a:bodyPr>
          <a:lstStyle/>
          <a:p>
            <a:endParaRPr lang="en-US" dirty="0"/>
          </a:p>
        </p:txBody>
      </p:sp>
      <p:pic>
        <p:nvPicPr>
          <p:cNvPr id="2053" name="Picture 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533400"/>
            <a:ext cx="9144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3563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304800"/>
            <a:ext cx="91440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7513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Cont.</a:t>
            </a:r>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2057400"/>
            <a:ext cx="914400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589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dirty="0"/>
              <a:t>Cont.</a:t>
            </a:r>
          </a:p>
        </p:txBody>
      </p:sp>
      <p:sp>
        <p:nvSpPr>
          <p:cNvPr id="3" name="Content Placeholder 2"/>
          <p:cNvSpPr>
            <a:spLocks noGrp="1"/>
          </p:cNvSpPr>
          <p:nvPr>
            <p:ph idx="1"/>
          </p:nvPr>
        </p:nvSpPr>
        <p:spPr>
          <a:xfrm>
            <a:off x="0" y="457200"/>
            <a:ext cx="9144000" cy="6400800"/>
          </a:xfrm>
        </p:spPr>
        <p:txBody>
          <a:bodyPr>
            <a:normAutofit fontScale="92500" lnSpcReduction="10000"/>
          </a:bodyPr>
          <a:lstStyle/>
          <a:p>
            <a:pPr marL="0" indent="0">
              <a:buNone/>
            </a:pPr>
            <a:r>
              <a:rPr lang="en-US" sz="3600" b="1" dirty="0"/>
              <a:t>THE ACCOUNTING CYCLE</a:t>
            </a:r>
            <a:r>
              <a:rPr lang="en-US" sz="3600" dirty="0"/>
              <a:t> </a:t>
            </a:r>
          </a:p>
          <a:p>
            <a:pPr marL="0" indent="0">
              <a:buNone/>
            </a:pPr>
            <a:r>
              <a:rPr lang="en-US" sz="3600" dirty="0"/>
              <a:t>The accounting process is done in steps from the point when a transaction is done to when the final financial statements are made. The following are the steps in the accounting cycle:</a:t>
            </a:r>
          </a:p>
          <a:p>
            <a:pPr lvl="0"/>
            <a:r>
              <a:rPr lang="en-US" sz="3600" dirty="0"/>
              <a:t>Occurrence &amp; documentation: </a:t>
            </a:r>
          </a:p>
          <a:p>
            <a:pPr marL="0" lvl="0" indent="0">
              <a:buNone/>
            </a:pPr>
            <a:r>
              <a:rPr lang="en-US" sz="3600" dirty="0"/>
              <a:t>Source documents where the original information is to be found such as sales and purchases invoices, debit and credit notes for good returned, bank pay in slips and cheque counter folios, receipts books issued out and receipts for cash paid out, and other correspondences containing financial information.</a:t>
            </a:r>
          </a:p>
          <a:p>
            <a:pPr marL="0" indent="0">
              <a:buNone/>
            </a:pPr>
            <a:endParaRPr lang="en-US" sz="3600" dirty="0"/>
          </a:p>
          <a:p>
            <a:endParaRPr lang="en-US" dirty="0"/>
          </a:p>
        </p:txBody>
      </p:sp>
    </p:spTree>
    <p:extLst>
      <p:ext uri="{BB962C8B-B14F-4D97-AF65-F5344CB8AC3E}">
        <p14:creationId xmlns:p14="http://schemas.microsoft.com/office/powerpoint/2010/main" val="143994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533400"/>
            <a:ext cx="9144000" cy="6324600"/>
          </a:xfrm>
        </p:spPr>
        <p:txBody>
          <a:bodyPr>
            <a:noAutofit/>
          </a:bodyPr>
          <a:lstStyle/>
          <a:p>
            <a:pPr lvl="0"/>
            <a:r>
              <a:rPr lang="en-US" sz="3600" dirty="0"/>
              <a:t>Journal entry:			</a:t>
            </a:r>
          </a:p>
          <a:p>
            <a:pPr marL="0" lvl="0" indent="0">
              <a:buNone/>
            </a:pPr>
            <a:r>
              <a:rPr lang="en-US" sz="3600" dirty="0"/>
              <a:t>Original entry where information is classified and entered in the different books of original entry such as cash books, sales and purchases day books, return in wards and return out wards day books and journals.</a:t>
            </a:r>
          </a:p>
          <a:p>
            <a:pPr marL="0" lvl="0" indent="0">
              <a:buNone/>
            </a:pPr>
            <a:r>
              <a:rPr lang="en-US" sz="3600" dirty="0"/>
              <a:t>Posting in the ledger:</a:t>
            </a:r>
          </a:p>
          <a:p>
            <a:pPr marL="0" lvl="0" indent="0">
              <a:buNone/>
            </a:pPr>
            <a:r>
              <a:rPr lang="en-US" sz="3600" dirty="0"/>
              <a:t>The double entry which shows how the double entry aspect of each transaction is recorded. This is done in T – accounts called ledgers.</a:t>
            </a:r>
          </a:p>
        </p:txBody>
      </p:sp>
    </p:spTree>
    <p:extLst>
      <p:ext uri="{BB962C8B-B14F-4D97-AF65-F5344CB8AC3E}">
        <p14:creationId xmlns:p14="http://schemas.microsoft.com/office/powerpoint/2010/main" val="804322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5275D-7E8D-571E-2A73-12001F02E99D}"/>
              </a:ext>
            </a:extLst>
          </p:cNvPr>
          <p:cNvSpPr>
            <a:spLocks noGrp="1"/>
          </p:cNvSpPr>
          <p:nvPr>
            <p:ph idx="1"/>
          </p:nvPr>
        </p:nvSpPr>
        <p:spPr>
          <a:xfrm>
            <a:off x="0" y="304800"/>
            <a:ext cx="9144000" cy="6553200"/>
          </a:xfrm>
        </p:spPr>
        <p:txBody>
          <a:bodyPr>
            <a:normAutofit/>
          </a:bodyPr>
          <a:lstStyle/>
          <a:p>
            <a:pPr lvl="0"/>
            <a:r>
              <a:rPr lang="en-US" sz="3600" dirty="0"/>
              <a:t>Extraction of the trial balance where the ledgers are summarized and arithmetic errors checked.</a:t>
            </a:r>
          </a:p>
          <a:p>
            <a:pPr lvl="0"/>
            <a:r>
              <a:rPr lang="en-US" sz="3600" dirty="0"/>
              <a:t>Make end of year adjustments to the TB.</a:t>
            </a:r>
          </a:p>
          <a:p>
            <a:pPr lvl="0"/>
            <a:r>
              <a:rPr lang="en-US" sz="3600" dirty="0"/>
              <a:t>Income statement where the profit or loss for the period is determined.</a:t>
            </a:r>
          </a:p>
          <a:p>
            <a:r>
              <a:rPr lang="en-US" sz="3600" dirty="0"/>
              <a:t>Preparation of a balance sheet to show the closing financial position showing assets, liabilities and capital</a:t>
            </a:r>
          </a:p>
          <a:p>
            <a:r>
              <a:rPr lang="en-US" sz="3600" dirty="0"/>
              <a:t>Interpretation of financial statements.</a:t>
            </a:r>
          </a:p>
          <a:p>
            <a:pPr marL="0" indent="0">
              <a:buNone/>
            </a:pPr>
            <a:endParaRPr lang="en-UG" dirty="0"/>
          </a:p>
        </p:txBody>
      </p:sp>
    </p:spTree>
    <p:extLst>
      <p:ext uri="{BB962C8B-B14F-4D97-AF65-F5344CB8AC3E}">
        <p14:creationId xmlns:p14="http://schemas.microsoft.com/office/powerpoint/2010/main" val="171586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9144000" cy="533400"/>
          </a:xfrm>
        </p:spPr>
        <p:txBody>
          <a:bodyPr>
            <a:noAutofit/>
          </a:bodyPr>
          <a:lstStyle/>
          <a:p>
            <a:r>
              <a:rPr lang="en-US" sz="4000" b="1" dirty="0"/>
              <a:t>BOOKS OF PRIME ENTRY/SINGLE ENTRY/ PRIMARY ENTRY</a:t>
            </a:r>
            <a:br>
              <a:rPr lang="en-US" sz="4000" dirty="0"/>
            </a:br>
            <a:endParaRPr lang="en-US" sz="4000" dirty="0"/>
          </a:p>
        </p:txBody>
      </p:sp>
      <p:sp>
        <p:nvSpPr>
          <p:cNvPr id="3" name="Content Placeholder 2"/>
          <p:cNvSpPr>
            <a:spLocks noGrp="1"/>
          </p:cNvSpPr>
          <p:nvPr>
            <p:ph idx="1"/>
          </p:nvPr>
        </p:nvSpPr>
        <p:spPr>
          <a:xfrm>
            <a:off x="0" y="990600"/>
            <a:ext cx="9144000" cy="5867400"/>
          </a:xfrm>
        </p:spPr>
        <p:txBody>
          <a:bodyPr/>
          <a:lstStyle/>
          <a:p>
            <a:pPr marL="0" indent="0">
              <a:lnSpc>
                <a:spcPct val="150000"/>
              </a:lnSpc>
              <a:buNone/>
            </a:pPr>
            <a:r>
              <a:rPr lang="en-US" sz="3600" dirty="0"/>
              <a:t>These are books in which we first record transactions from the original documents. They include sales day book, purchases day book, return in wards day book, return out wards day book, the cash book and the journal.</a:t>
            </a:r>
          </a:p>
          <a:p>
            <a:endParaRPr lang="en-US" dirty="0"/>
          </a:p>
        </p:txBody>
      </p:sp>
    </p:spTree>
    <p:extLst>
      <p:ext uri="{BB962C8B-B14F-4D97-AF65-F5344CB8AC3E}">
        <p14:creationId xmlns:p14="http://schemas.microsoft.com/office/powerpoint/2010/main" val="3727600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457200"/>
          </a:xfrm>
        </p:spPr>
        <p:txBody>
          <a:bodyPr>
            <a:normAutofit fontScale="90000"/>
          </a:bodyPr>
          <a:lstStyle/>
          <a:p>
            <a:r>
              <a:rPr lang="en-US" b="1" dirty="0"/>
              <a:t>SALES DAY BOOK/SALES JOURNAL</a:t>
            </a:r>
            <a:br>
              <a:rPr lang="en-US" dirty="0"/>
            </a:br>
            <a:endParaRPr lang="en-US" dirty="0"/>
          </a:p>
        </p:txBody>
      </p:sp>
      <p:sp>
        <p:nvSpPr>
          <p:cNvPr id="3" name="Content Placeholder 2"/>
          <p:cNvSpPr>
            <a:spLocks noGrp="1"/>
          </p:cNvSpPr>
          <p:nvPr>
            <p:ph idx="1"/>
          </p:nvPr>
        </p:nvSpPr>
        <p:spPr>
          <a:xfrm>
            <a:off x="0" y="457200"/>
            <a:ext cx="9144000" cy="6400800"/>
          </a:xfrm>
        </p:spPr>
        <p:txBody>
          <a:bodyPr>
            <a:normAutofit/>
          </a:bodyPr>
          <a:lstStyle/>
          <a:p>
            <a:pPr marL="0" indent="0">
              <a:buNone/>
            </a:pPr>
            <a:r>
              <a:rPr lang="en-US" sz="3600" dirty="0"/>
              <a:t>This is where sales made on credit are recorded on daily basis. When goods are sold on credit, a document called an invoice is sent to the buyer. The invoice contains the details of the good, i.e. the quantity, price per unit and total selling price. From the copy of the sales invoice, the seller enters up the transaction in the sales day book. </a:t>
            </a:r>
          </a:p>
          <a:p>
            <a:pPr marL="0" indent="0">
              <a:buNone/>
            </a:pPr>
            <a:r>
              <a:rPr lang="en-US" sz="3600" dirty="0"/>
              <a:t>The sales day book contains the date of the sale, name of customer, invoice number, folio column and final amount of the invoice.</a:t>
            </a:r>
          </a:p>
          <a:p>
            <a:endParaRPr lang="en-US" dirty="0"/>
          </a:p>
        </p:txBody>
      </p:sp>
    </p:spTree>
    <p:extLst>
      <p:ext uri="{BB962C8B-B14F-4D97-AF65-F5344CB8AC3E}">
        <p14:creationId xmlns:p14="http://schemas.microsoft.com/office/powerpoint/2010/main" val="2102272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81000"/>
          </a:xfrm>
        </p:spPr>
        <p:txBody>
          <a:bodyPr>
            <a:normAutofit fontScale="90000"/>
          </a:bodyPr>
          <a:lstStyle/>
          <a:p>
            <a:r>
              <a:rPr lang="en-US" dirty="0"/>
              <a:t>Example:</a:t>
            </a:r>
            <a:br>
              <a:rPr lang="en-US" dirty="0"/>
            </a:br>
            <a:endParaRPr lang="en-US"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828800"/>
            <a:ext cx="9144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838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fontScale="90000"/>
          </a:bodyPr>
          <a:lstStyle/>
          <a:p>
            <a:r>
              <a:rPr lang="en-US" b="1" dirty="0"/>
              <a:t>PURCHASES DAY BOOK</a:t>
            </a:r>
            <a:br>
              <a:rPr lang="en-US" dirty="0"/>
            </a:br>
            <a:endParaRPr lang="en-US" dirty="0"/>
          </a:p>
        </p:txBody>
      </p:sp>
      <p:sp>
        <p:nvSpPr>
          <p:cNvPr id="3" name="Content Placeholder 2"/>
          <p:cNvSpPr>
            <a:spLocks noGrp="1"/>
          </p:cNvSpPr>
          <p:nvPr>
            <p:ph idx="1"/>
          </p:nvPr>
        </p:nvSpPr>
        <p:spPr>
          <a:xfrm>
            <a:off x="0" y="609600"/>
            <a:ext cx="9144000" cy="6248400"/>
          </a:xfrm>
        </p:spPr>
        <p:txBody>
          <a:bodyPr>
            <a:normAutofit fontScale="92500"/>
          </a:bodyPr>
          <a:lstStyle/>
          <a:p>
            <a:pPr marL="0" indent="0">
              <a:lnSpc>
                <a:spcPct val="150000"/>
              </a:lnSpc>
              <a:buNone/>
            </a:pPr>
            <a:r>
              <a:rPr lang="en-US" sz="3600" dirty="0"/>
              <a:t>Like for credit sales, when you purchase goods on credit, the seller prepares an invoice and sends it to you. The invoice is called the purchases invoice.</a:t>
            </a:r>
          </a:p>
          <a:p>
            <a:pPr marL="0" indent="0">
              <a:lnSpc>
                <a:spcPct val="150000"/>
              </a:lnSpc>
              <a:buNone/>
            </a:pPr>
            <a:r>
              <a:rPr lang="en-US" sz="3600" dirty="0"/>
              <a:t>From the purchases invoice, the purchasers enters the details of the goods purchased in the purchases day book also called purchases journal.</a:t>
            </a:r>
          </a:p>
          <a:p>
            <a:pPr marL="0" indent="0">
              <a:buNone/>
            </a:pPr>
            <a:endParaRPr lang="en-US" dirty="0"/>
          </a:p>
        </p:txBody>
      </p:sp>
    </p:spTree>
    <p:extLst>
      <p:ext uri="{BB962C8B-B14F-4D97-AF65-F5344CB8AC3E}">
        <p14:creationId xmlns:p14="http://schemas.microsoft.com/office/powerpoint/2010/main" val="4121248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dirty="0"/>
              <a:t>Example</a:t>
            </a:r>
            <a:br>
              <a:rPr lang="en-US" dirty="0"/>
            </a:br>
            <a:endParaRPr lang="en-US" dirty="0"/>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905000"/>
            <a:ext cx="9067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3972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381000"/>
          </a:xfrm>
        </p:spPr>
        <p:txBody>
          <a:bodyPr>
            <a:normAutofit fontScale="90000"/>
          </a:bodyPr>
          <a:lstStyle/>
          <a:p>
            <a:r>
              <a:rPr lang="en-US" b="1" dirty="0"/>
              <a:t>RETURN DAY BOOKS</a:t>
            </a:r>
            <a:br>
              <a:rPr lang="en-US" dirty="0"/>
            </a:br>
            <a:endParaRPr lang="en-US" dirty="0"/>
          </a:p>
        </p:txBody>
      </p:sp>
      <p:sp>
        <p:nvSpPr>
          <p:cNvPr id="3" name="Content Placeholder 2"/>
          <p:cNvSpPr>
            <a:spLocks noGrp="1"/>
          </p:cNvSpPr>
          <p:nvPr>
            <p:ph idx="1"/>
          </p:nvPr>
        </p:nvSpPr>
        <p:spPr>
          <a:xfrm>
            <a:off x="0" y="457200"/>
            <a:ext cx="9144000" cy="6400800"/>
          </a:xfrm>
        </p:spPr>
        <p:txBody>
          <a:bodyPr>
            <a:normAutofit fontScale="70000" lnSpcReduction="20000"/>
          </a:bodyPr>
          <a:lstStyle/>
          <a:p>
            <a:pPr marL="0" indent="0">
              <a:buNone/>
            </a:pPr>
            <a:r>
              <a:rPr lang="en-US" sz="4900" dirty="0"/>
              <a:t>When good are purchased or sold on credit, they may be returned for reasons that they are not of the right quality or they do not meet the customer’s description. Such good returned are recorded in return day books.</a:t>
            </a:r>
          </a:p>
          <a:p>
            <a:pPr marL="0" indent="0">
              <a:buNone/>
            </a:pPr>
            <a:r>
              <a:rPr lang="en-US" sz="4900" dirty="0"/>
              <a:t> Goods that were sold but have been returned are called return in wards and are recorded in return in words day book (journal)</a:t>
            </a:r>
          </a:p>
          <a:p>
            <a:pPr marL="0" indent="0">
              <a:buNone/>
            </a:pPr>
            <a:r>
              <a:rPr lang="en-US" sz="4900" dirty="0"/>
              <a:t> Goods that were purchased but are being returned to the suppliers are called return out wards and are recorded in return outward day book (journal).</a:t>
            </a:r>
          </a:p>
          <a:p>
            <a:pPr marL="0" indent="0">
              <a:buNone/>
            </a:pPr>
            <a:r>
              <a:rPr lang="en-US" sz="4900" dirty="0"/>
              <a:t> </a:t>
            </a:r>
          </a:p>
          <a:p>
            <a:pPr marL="0" indent="0">
              <a:buNone/>
            </a:pPr>
            <a:r>
              <a:rPr lang="en-US" sz="4900" b="1" dirty="0"/>
              <a:t> </a:t>
            </a:r>
            <a:endParaRPr lang="en-US" sz="4900" dirty="0"/>
          </a:p>
          <a:p>
            <a:endParaRPr lang="en-US" dirty="0"/>
          </a:p>
        </p:txBody>
      </p:sp>
    </p:spTree>
    <p:extLst>
      <p:ext uri="{BB962C8B-B14F-4D97-AF65-F5344CB8AC3E}">
        <p14:creationId xmlns:p14="http://schemas.microsoft.com/office/powerpoint/2010/main" val="3423794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fontScale="90000"/>
          </a:bodyPr>
          <a:lstStyle/>
          <a:p>
            <a:r>
              <a:rPr lang="en-US" b="1" dirty="0"/>
              <a:t>RETURN INWARD Day BOOK</a:t>
            </a:r>
            <a:br>
              <a:rPr lang="en-US" dirty="0"/>
            </a:br>
            <a:endParaRPr lang="en-US" dirty="0"/>
          </a:p>
        </p:txBody>
      </p:sp>
      <p:sp>
        <p:nvSpPr>
          <p:cNvPr id="3" name="Content Placeholder 2"/>
          <p:cNvSpPr>
            <a:spLocks noGrp="1"/>
          </p:cNvSpPr>
          <p:nvPr>
            <p:ph idx="1"/>
          </p:nvPr>
        </p:nvSpPr>
        <p:spPr>
          <a:xfrm>
            <a:off x="0" y="533400"/>
            <a:ext cx="9144000" cy="6324600"/>
          </a:xfrm>
        </p:spPr>
        <p:txBody>
          <a:bodyPr>
            <a:normAutofit/>
          </a:bodyPr>
          <a:lstStyle/>
          <a:p>
            <a:r>
              <a:rPr lang="en-US" sz="3600" dirty="0"/>
              <a:t>When goods have been returned by customers, a document called a credit note is sent to them acknowledging the goods that have been returned and indicating that their account will be credited (reduced) by the value of the goods that have been returned. </a:t>
            </a:r>
          </a:p>
          <a:p>
            <a:r>
              <a:rPr lang="en-US" sz="3600" dirty="0"/>
              <a:t>The copies of the credit notes are then used to enter the details of the goods that have been returned in the return inward day book.</a:t>
            </a:r>
          </a:p>
          <a:p>
            <a:pPr marL="0" indent="0">
              <a:buNone/>
            </a:pPr>
            <a:endParaRPr lang="en-US" dirty="0"/>
          </a:p>
        </p:txBody>
      </p:sp>
    </p:spTree>
    <p:extLst>
      <p:ext uri="{BB962C8B-B14F-4D97-AF65-F5344CB8AC3E}">
        <p14:creationId xmlns:p14="http://schemas.microsoft.com/office/powerpoint/2010/main" val="2456564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a:t>
            </a:r>
            <a:br>
              <a:rPr lang="en-US" dirty="0"/>
            </a:br>
            <a:endParaRPr lang="en-US" dirty="0"/>
          </a:p>
        </p:txBody>
      </p:sp>
      <p:sp>
        <p:nvSpPr>
          <p:cNvPr id="3" name="Content Placeholder 2"/>
          <p:cNvSpPr>
            <a:spLocks noGrp="1"/>
          </p:cNvSpPr>
          <p:nvPr>
            <p:ph idx="1"/>
          </p:nvPr>
        </p:nvSpPr>
        <p:spPr>
          <a:xfrm>
            <a:off x="0" y="762000"/>
            <a:ext cx="9144000" cy="5364163"/>
          </a:xfrm>
        </p:spPr>
        <p:txBody>
          <a:bodyPr/>
          <a:lstStyle/>
          <a:p>
            <a:r>
              <a:rPr lang="en-US" dirty="0"/>
              <a:t>RETURN INWARD DAY BOOK</a:t>
            </a:r>
          </a:p>
          <a:p>
            <a:endParaRPr 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438400"/>
            <a:ext cx="91440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020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52400"/>
          </a:xfrm>
        </p:spPr>
        <p:txBody>
          <a:bodyPr>
            <a:normAutofit fontScale="90000"/>
          </a:bodyPr>
          <a:lstStyle/>
          <a:p>
            <a:r>
              <a:rPr lang="en-US" b="1" dirty="0"/>
              <a:t>RETURN OUTWARD DAY BOOK</a:t>
            </a:r>
            <a:br>
              <a:rPr lang="en-US" dirty="0"/>
            </a:br>
            <a:endParaRPr lang="en-US" dirty="0"/>
          </a:p>
        </p:txBody>
      </p:sp>
      <p:sp>
        <p:nvSpPr>
          <p:cNvPr id="3" name="Content Placeholder 2"/>
          <p:cNvSpPr>
            <a:spLocks noGrp="1"/>
          </p:cNvSpPr>
          <p:nvPr>
            <p:ph idx="1"/>
          </p:nvPr>
        </p:nvSpPr>
        <p:spPr>
          <a:xfrm>
            <a:off x="0" y="457200"/>
            <a:ext cx="9144000" cy="6400800"/>
          </a:xfrm>
        </p:spPr>
        <p:txBody>
          <a:bodyPr>
            <a:normAutofit/>
          </a:bodyPr>
          <a:lstStyle/>
          <a:p>
            <a:r>
              <a:rPr lang="en-US" sz="3600" dirty="0"/>
              <a:t>When good that had been purchased are returned to the supplier, a document called a debit note is sent to the supplier describing the goods that have been returned to him and notifying him that his account Has been debited (reduced) by the value of the goods returned.</a:t>
            </a:r>
          </a:p>
          <a:p>
            <a:pPr marL="0" indent="0">
              <a:buNone/>
            </a:pPr>
            <a:r>
              <a:rPr lang="en-US" sz="3600" dirty="0"/>
              <a:t> The credit notes are then used to enter the details of the goods returned in the return outward day book.</a:t>
            </a:r>
          </a:p>
          <a:p>
            <a:endParaRPr lang="en-US" dirty="0"/>
          </a:p>
        </p:txBody>
      </p:sp>
    </p:spTree>
    <p:extLst>
      <p:ext uri="{BB962C8B-B14F-4D97-AF65-F5344CB8AC3E}">
        <p14:creationId xmlns:p14="http://schemas.microsoft.com/office/powerpoint/2010/main" val="570752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427037"/>
          </a:xfrm>
        </p:spPr>
        <p:txBody>
          <a:bodyPr>
            <a:normAutofit fontScale="90000"/>
          </a:bodyPr>
          <a:lstStyle/>
          <a:p>
            <a:r>
              <a:rPr lang="en-US" dirty="0"/>
              <a:t>Example</a:t>
            </a:r>
            <a:br>
              <a:rPr lang="en-US" dirty="0"/>
            </a:br>
            <a:endParaRPr lang="en-US" dirty="0"/>
          </a:p>
        </p:txBody>
      </p:sp>
      <p:sp>
        <p:nvSpPr>
          <p:cNvPr id="3" name="Content Placeholder 2"/>
          <p:cNvSpPr>
            <a:spLocks noGrp="1"/>
          </p:cNvSpPr>
          <p:nvPr>
            <p:ph idx="1"/>
          </p:nvPr>
        </p:nvSpPr>
        <p:spPr>
          <a:xfrm>
            <a:off x="0" y="838200"/>
            <a:ext cx="9144000" cy="5287963"/>
          </a:xfrm>
        </p:spPr>
        <p:txBody>
          <a:bodyPr/>
          <a:lstStyle/>
          <a:p>
            <a:r>
              <a:rPr lang="en-US" dirty="0"/>
              <a:t>RETURN OUTWARD DAY BOOK</a:t>
            </a:r>
          </a:p>
          <a:p>
            <a:pPr marL="0" indent="0">
              <a:buNone/>
            </a:pPr>
            <a:endParaRPr lang="en-US" dirty="0"/>
          </a:p>
        </p:txBody>
      </p:sp>
      <p:pic>
        <p:nvPicPr>
          <p:cNvPr id="8193"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133600"/>
            <a:ext cx="91440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6596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b="1" dirty="0"/>
              <a:t>THE CASH BOOK</a:t>
            </a:r>
            <a:br>
              <a:rPr lang="en-US" dirty="0"/>
            </a:br>
            <a:endParaRPr lang="en-US" dirty="0"/>
          </a:p>
        </p:txBody>
      </p:sp>
      <p:sp>
        <p:nvSpPr>
          <p:cNvPr id="3" name="Content Placeholder 2"/>
          <p:cNvSpPr>
            <a:spLocks noGrp="1"/>
          </p:cNvSpPr>
          <p:nvPr>
            <p:ph idx="1"/>
          </p:nvPr>
        </p:nvSpPr>
        <p:spPr>
          <a:xfrm>
            <a:off x="0" y="381000"/>
            <a:ext cx="9144000" cy="6477000"/>
          </a:xfrm>
        </p:spPr>
        <p:txBody>
          <a:bodyPr>
            <a:normAutofit fontScale="92500"/>
          </a:bodyPr>
          <a:lstStyle/>
          <a:p>
            <a:pPr marL="0" marR="0" algn="just">
              <a:spcBef>
                <a:spcPts val="0"/>
              </a:spcBef>
              <a:spcAft>
                <a:spcPts val="0"/>
              </a:spcAft>
            </a:pPr>
            <a:r>
              <a:rPr lang="en-US" dirty="0">
                <a:effectLst/>
                <a:latin typeface="Times New Roman"/>
                <a:ea typeface="Times New Roman"/>
              </a:rPr>
              <a:t>The cash book records cash and </a:t>
            </a:r>
            <a:r>
              <a:rPr lang="en-US" dirty="0" err="1">
                <a:effectLst/>
                <a:latin typeface="Times New Roman"/>
                <a:ea typeface="Times New Roman"/>
              </a:rPr>
              <a:t>cheque</a:t>
            </a:r>
            <a:r>
              <a:rPr lang="en-US" dirty="0">
                <a:effectLst/>
                <a:latin typeface="Times New Roman"/>
                <a:ea typeface="Times New Roman"/>
              </a:rPr>
              <a:t> transactions. The left hand side records receipt of cash and </a:t>
            </a:r>
            <a:r>
              <a:rPr lang="en-US" dirty="0" err="1">
                <a:effectLst/>
                <a:latin typeface="Times New Roman"/>
                <a:ea typeface="Times New Roman"/>
              </a:rPr>
              <a:t>cheques</a:t>
            </a:r>
            <a:r>
              <a:rPr lang="en-US" dirty="0">
                <a:effectLst/>
                <a:latin typeface="Times New Roman"/>
                <a:ea typeface="Times New Roman"/>
              </a:rPr>
              <a:t> and right hand side records payments of cash and </a:t>
            </a:r>
            <a:r>
              <a:rPr lang="en-US" dirty="0" err="1">
                <a:effectLst/>
                <a:latin typeface="Times New Roman"/>
                <a:ea typeface="Times New Roman"/>
              </a:rPr>
              <a:t>cheques</a:t>
            </a:r>
            <a:r>
              <a:rPr lang="en-US" dirty="0">
                <a:effectLst/>
                <a:latin typeface="Times New Roman"/>
                <a:ea typeface="Times New Roman"/>
              </a:rPr>
              <a:t>. </a:t>
            </a:r>
          </a:p>
          <a:p>
            <a:pPr marL="0" marR="0" indent="0" algn="just">
              <a:spcBef>
                <a:spcPts val="0"/>
              </a:spcBef>
              <a:spcAft>
                <a:spcPts val="0"/>
              </a:spcAft>
              <a:buNone/>
            </a:pPr>
            <a:r>
              <a:rPr lang="en-US" dirty="0">
                <a:effectLst/>
                <a:latin typeface="Times New Roman"/>
                <a:ea typeface="Times New Roman"/>
              </a:rPr>
              <a:t> A typical cash book will have the date of the transaction, name of the person paying, the cash and bank column on the left hand side and date, name of person being paid, cash and bank column on the right hand side.</a:t>
            </a:r>
          </a:p>
          <a:p>
            <a:pPr marL="0" marR="0" indent="0" algn="just">
              <a:spcBef>
                <a:spcPts val="0"/>
              </a:spcBef>
              <a:spcAft>
                <a:spcPts val="0"/>
              </a:spcAft>
              <a:buNone/>
            </a:pPr>
            <a:r>
              <a:rPr lang="en-US" dirty="0">
                <a:effectLst/>
                <a:latin typeface="Times New Roman"/>
                <a:ea typeface="Times New Roman"/>
              </a:rPr>
              <a:t> However a detailed cash book may contain the folio and the discounts column on both sides. The folio column gives reference of the other account where the transaction has been recorded. The discount columns record discounts allowed on the left hand side and the discounts received on the right hand side. </a:t>
            </a:r>
          </a:p>
          <a:p>
            <a:pPr marL="0" indent="0">
              <a:buNone/>
            </a:pPr>
            <a:endParaRPr lang="en-US" dirty="0"/>
          </a:p>
        </p:txBody>
      </p:sp>
    </p:spTree>
    <p:extLst>
      <p:ext uri="{BB962C8B-B14F-4D97-AF65-F5344CB8AC3E}">
        <p14:creationId xmlns:p14="http://schemas.microsoft.com/office/powerpoint/2010/main" val="4054192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04800"/>
          </a:xfrm>
        </p:spPr>
        <p:txBody>
          <a:bodyPr>
            <a:normAutofit fontScale="90000"/>
          </a:bodyPr>
          <a:lstStyle/>
          <a:p>
            <a:r>
              <a:rPr lang="en-US" dirty="0"/>
              <a:t>Example: </a:t>
            </a:r>
            <a:br>
              <a:rPr lang="en-US" dirty="0"/>
            </a:br>
            <a:endParaRPr lang="en-US" dirty="0"/>
          </a:p>
        </p:txBody>
      </p:sp>
      <p:sp>
        <p:nvSpPr>
          <p:cNvPr id="3" name="Content Placeholder 2"/>
          <p:cNvSpPr>
            <a:spLocks noGrp="1"/>
          </p:cNvSpPr>
          <p:nvPr>
            <p:ph idx="1"/>
          </p:nvPr>
        </p:nvSpPr>
        <p:spPr>
          <a:xfrm>
            <a:off x="0" y="381000"/>
            <a:ext cx="9144000" cy="6477000"/>
          </a:xfrm>
        </p:spPr>
        <p:txBody>
          <a:bodyPr>
            <a:normAutofit fontScale="92500" lnSpcReduction="20000"/>
          </a:bodyPr>
          <a:lstStyle/>
          <a:p>
            <a:pPr marL="0" indent="0">
              <a:buNone/>
            </a:pPr>
            <a:r>
              <a:rPr lang="en-US" dirty="0"/>
              <a:t>The following were the bank and cash transactions of JB ltd.</a:t>
            </a:r>
          </a:p>
          <a:p>
            <a:pPr marL="0" indent="0">
              <a:buNone/>
            </a:pPr>
            <a:r>
              <a:rPr lang="en-US" dirty="0"/>
              <a:t> 2009 July 1 JB banks capital into the bank account of 10,000,000</a:t>
            </a:r>
          </a:p>
          <a:p>
            <a:pPr marL="0" indent="0">
              <a:buNone/>
            </a:pPr>
            <a:r>
              <a:rPr lang="en-US" dirty="0"/>
              <a:t>                 2 Received a cheque from Jim </a:t>
            </a:r>
            <a:r>
              <a:rPr lang="en-US" dirty="0" err="1"/>
              <a:t>shs</a:t>
            </a:r>
            <a:r>
              <a:rPr lang="en-US" dirty="0"/>
              <a:t> 560,000</a:t>
            </a:r>
          </a:p>
          <a:p>
            <a:pPr marL="0" indent="0">
              <a:buNone/>
            </a:pPr>
            <a:r>
              <a:rPr lang="en-US" dirty="0"/>
              <a:t>                 4 Sold good in cash </a:t>
            </a:r>
            <a:r>
              <a:rPr lang="en-US" dirty="0" err="1"/>
              <a:t>shs</a:t>
            </a:r>
            <a:r>
              <a:rPr lang="en-US" dirty="0"/>
              <a:t> 1,200,000</a:t>
            </a:r>
          </a:p>
          <a:p>
            <a:pPr marL="0" indent="0">
              <a:buNone/>
            </a:pPr>
            <a:r>
              <a:rPr lang="en-US" dirty="0"/>
              <a:t>                 6 Paid rent by cash </a:t>
            </a:r>
            <a:r>
              <a:rPr lang="en-US" dirty="0" err="1"/>
              <a:t>shs</a:t>
            </a:r>
            <a:r>
              <a:rPr lang="en-US" dirty="0"/>
              <a:t> 800,000</a:t>
            </a:r>
          </a:p>
          <a:p>
            <a:pPr marL="0" indent="0">
              <a:buNone/>
            </a:pPr>
            <a:r>
              <a:rPr lang="en-US" dirty="0"/>
              <a:t>                 8 Bank </a:t>
            </a:r>
            <a:r>
              <a:rPr lang="en-US" dirty="0" err="1"/>
              <a:t>shs</a:t>
            </a:r>
            <a:r>
              <a:rPr lang="en-US" dirty="0"/>
              <a:t> 300,000 into the bank account</a:t>
            </a:r>
          </a:p>
          <a:p>
            <a:pPr marL="0" indent="0">
              <a:buNone/>
            </a:pPr>
            <a:r>
              <a:rPr lang="en-US" dirty="0"/>
              <a:t>                 16 Sold goods by </a:t>
            </a:r>
            <a:r>
              <a:rPr lang="en-US" dirty="0" err="1"/>
              <a:t>cheque</a:t>
            </a:r>
            <a:r>
              <a:rPr lang="en-US" dirty="0"/>
              <a:t> </a:t>
            </a:r>
            <a:r>
              <a:rPr lang="en-US" dirty="0" err="1"/>
              <a:t>shs</a:t>
            </a:r>
            <a:r>
              <a:rPr lang="en-US" dirty="0"/>
              <a:t> 600,000</a:t>
            </a:r>
          </a:p>
          <a:p>
            <a:pPr marL="0" indent="0">
              <a:buNone/>
            </a:pPr>
            <a:r>
              <a:rPr lang="en-US" dirty="0"/>
              <a:t>                 23 paid John by </a:t>
            </a:r>
            <a:r>
              <a:rPr lang="en-US" dirty="0" err="1"/>
              <a:t>cheque</a:t>
            </a:r>
            <a:r>
              <a:rPr lang="en-US" dirty="0"/>
              <a:t> </a:t>
            </a:r>
            <a:r>
              <a:rPr lang="en-US" dirty="0" err="1"/>
              <a:t>shs</a:t>
            </a:r>
            <a:r>
              <a:rPr lang="en-US" dirty="0"/>
              <a:t> 1,000,000</a:t>
            </a:r>
          </a:p>
          <a:p>
            <a:pPr marL="0" indent="0">
              <a:buNone/>
            </a:pPr>
            <a:r>
              <a:rPr lang="en-US" dirty="0"/>
              <a:t>                 26 Withdrew cash from the bank for business use </a:t>
            </a:r>
            <a:r>
              <a:rPr lang="en-US" dirty="0" err="1"/>
              <a:t>shs</a:t>
            </a:r>
            <a:r>
              <a:rPr lang="en-US" dirty="0"/>
              <a:t> 1,500,000</a:t>
            </a:r>
          </a:p>
          <a:p>
            <a:pPr marL="0" indent="0">
              <a:buNone/>
            </a:pPr>
            <a:r>
              <a:rPr lang="en-US" dirty="0"/>
              <a:t>                 30 Paid wages in cash </a:t>
            </a:r>
            <a:r>
              <a:rPr lang="en-US" dirty="0" err="1"/>
              <a:t>shs</a:t>
            </a:r>
            <a:r>
              <a:rPr lang="en-US" dirty="0"/>
              <a:t> 1,000,000.</a:t>
            </a:r>
          </a:p>
          <a:p>
            <a:pPr marL="0" indent="0">
              <a:buNone/>
            </a:pPr>
            <a:r>
              <a:rPr lang="en-US" dirty="0"/>
              <a:t> Draw up the cash for JB ltd. For the month of July 09.</a:t>
            </a:r>
          </a:p>
          <a:p>
            <a:endParaRPr lang="en-US" dirty="0"/>
          </a:p>
        </p:txBody>
      </p:sp>
    </p:spTree>
    <p:extLst>
      <p:ext uri="{BB962C8B-B14F-4D97-AF65-F5344CB8AC3E}">
        <p14:creationId xmlns:p14="http://schemas.microsoft.com/office/powerpoint/2010/main" val="2973197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6096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609601"/>
            <a:ext cx="9144000" cy="6248399"/>
          </a:xfrm>
        </p:spPr>
        <p:txBody>
          <a:bodyPr/>
          <a:lstStyle/>
          <a:p>
            <a:pPr marL="0" indent="0">
              <a:buNone/>
            </a:pPr>
            <a:r>
              <a:rPr lang="en-US" dirty="0"/>
              <a:t> JB Ltd. Cash book for the month of July 09</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72536380"/>
              </p:ext>
            </p:extLst>
          </p:nvPr>
        </p:nvGraphicFramePr>
        <p:xfrm>
          <a:off x="0" y="1447800"/>
          <a:ext cx="9143998" cy="5410198"/>
        </p:xfrm>
        <a:graphic>
          <a:graphicData uri="http://schemas.openxmlformats.org/drawingml/2006/table">
            <a:tbl>
              <a:tblPr firstRow="1" firstCol="1" lastRow="1" lastCol="1" bandRow="1" bandCol="1"/>
              <a:tblGrid>
                <a:gridCol w="913780">
                  <a:extLst>
                    <a:ext uri="{9D8B030D-6E8A-4147-A177-3AD203B41FA5}">
                      <a16:colId xmlns:a16="http://schemas.microsoft.com/office/drawing/2014/main" val="20000"/>
                    </a:ext>
                  </a:extLst>
                </a:gridCol>
                <a:gridCol w="913780">
                  <a:extLst>
                    <a:ext uri="{9D8B030D-6E8A-4147-A177-3AD203B41FA5}">
                      <a16:colId xmlns:a16="http://schemas.microsoft.com/office/drawing/2014/main" val="20001"/>
                    </a:ext>
                  </a:extLst>
                </a:gridCol>
                <a:gridCol w="913780">
                  <a:extLst>
                    <a:ext uri="{9D8B030D-6E8A-4147-A177-3AD203B41FA5}">
                      <a16:colId xmlns:a16="http://schemas.microsoft.com/office/drawing/2014/main" val="20002"/>
                    </a:ext>
                  </a:extLst>
                </a:gridCol>
                <a:gridCol w="913780">
                  <a:extLst>
                    <a:ext uri="{9D8B030D-6E8A-4147-A177-3AD203B41FA5}">
                      <a16:colId xmlns:a16="http://schemas.microsoft.com/office/drawing/2014/main" val="20003"/>
                    </a:ext>
                  </a:extLst>
                </a:gridCol>
                <a:gridCol w="914813">
                  <a:extLst>
                    <a:ext uri="{9D8B030D-6E8A-4147-A177-3AD203B41FA5}">
                      <a16:colId xmlns:a16="http://schemas.microsoft.com/office/drawing/2014/main" val="20004"/>
                    </a:ext>
                  </a:extLst>
                </a:gridCol>
                <a:gridCol w="914813">
                  <a:extLst>
                    <a:ext uri="{9D8B030D-6E8A-4147-A177-3AD203B41FA5}">
                      <a16:colId xmlns:a16="http://schemas.microsoft.com/office/drawing/2014/main" val="20005"/>
                    </a:ext>
                  </a:extLst>
                </a:gridCol>
                <a:gridCol w="914813">
                  <a:extLst>
                    <a:ext uri="{9D8B030D-6E8A-4147-A177-3AD203B41FA5}">
                      <a16:colId xmlns:a16="http://schemas.microsoft.com/office/drawing/2014/main" val="20006"/>
                    </a:ext>
                  </a:extLst>
                </a:gridCol>
                <a:gridCol w="914813">
                  <a:extLst>
                    <a:ext uri="{9D8B030D-6E8A-4147-A177-3AD203B41FA5}">
                      <a16:colId xmlns:a16="http://schemas.microsoft.com/office/drawing/2014/main" val="20007"/>
                    </a:ext>
                  </a:extLst>
                </a:gridCol>
                <a:gridCol w="914813">
                  <a:extLst>
                    <a:ext uri="{9D8B030D-6E8A-4147-A177-3AD203B41FA5}">
                      <a16:colId xmlns:a16="http://schemas.microsoft.com/office/drawing/2014/main" val="20008"/>
                    </a:ext>
                  </a:extLst>
                </a:gridCol>
                <a:gridCol w="914813">
                  <a:extLst>
                    <a:ext uri="{9D8B030D-6E8A-4147-A177-3AD203B41FA5}">
                      <a16:colId xmlns:a16="http://schemas.microsoft.com/office/drawing/2014/main" val="20009"/>
                    </a:ext>
                  </a:extLst>
                </a:gridCol>
              </a:tblGrid>
              <a:tr h="483053">
                <a:tc>
                  <a:txBody>
                    <a:bodyPr/>
                    <a:lstStyle/>
                    <a:p>
                      <a:pPr marL="0" marR="0" algn="just">
                        <a:spcBef>
                          <a:spcPts val="0"/>
                        </a:spcBef>
                        <a:spcAft>
                          <a:spcPts val="0"/>
                        </a:spcAft>
                      </a:pPr>
                      <a:r>
                        <a:rPr lang="en-US" sz="1000">
                          <a:effectLst/>
                          <a:latin typeface="Times New Roman"/>
                          <a:ea typeface="Times New Roman"/>
                        </a:rPr>
                        <a:t>Date</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Part.</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Folio</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Cash</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Bank</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Date</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part</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Folio</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Cash</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Bank</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4429">
                <a:tc>
                  <a:txBody>
                    <a:bodyPr/>
                    <a:lstStyle/>
                    <a:p>
                      <a:pPr marL="0" marR="0" algn="just">
                        <a:spcBef>
                          <a:spcPts val="0"/>
                        </a:spcBef>
                        <a:spcAft>
                          <a:spcPts val="0"/>
                        </a:spcAft>
                      </a:pPr>
                      <a:r>
                        <a:rPr lang="en-US" sz="1000">
                          <a:effectLst/>
                          <a:latin typeface="Times New Roman"/>
                          <a:ea typeface="Times New Roman"/>
                        </a:rPr>
                        <a:t>Jul 09 1</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2</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4</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8</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16</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26</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Capital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Jim</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Sales</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Cash</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Sales</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bank</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GL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Jim</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SL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SL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1,200,000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1,500,000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dirty="0">
                          <a:effectLst/>
                          <a:latin typeface="Times New Roman"/>
                          <a:ea typeface="Times New Roman"/>
                        </a:rPr>
                        <a:t> </a:t>
                      </a:r>
                      <a:endParaRPr lang="en-US" sz="1200" dirty="0">
                        <a:effectLst/>
                        <a:latin typeface="Times New Roman"/>
                        <a:ea typeface="Times New Roman"/>
                      </a:endParaRPr>
                    </a:p>
                    <a:p>
                      <a:pPr marL="0" marR="0" algn="just">
                        <a:spcBef>
                          <a:spcPts val="0"/>
                        </a:spcBef>
                        <a:spcAft>
                          <a:spcPts val="0"/>
                        </a:spcAft>
                      </a:pPr>
                      <a:r>
                        <a:rPr lang="en-US" sz="1000" dirty="0">
                          <a:effectLst/>
                          <a:latin typeface="Times New Roman"/>
                          <a:ea typeface="Times New Roman"/>
                        </a:rPr>
                        <a:t>10,000,000</a:t>
                      </a:r>
                      <a:endParaRPr lang="en-US" sz="1200" dirty="0">
                        <a:effectLst/>
                        <a:latin typeface="Times New Roman"/>
                        <a:ea typeface="Times New Roman"/>
                      </a:endParaRPr>
                    </a:p>
                    <a:p>
                      <a:pPr marL="0" marR="0" algn="just">
                        <a:spcBef>
                          <a:spcPts val="0"/>
                        </a:spcBef>
                        <a:spcAft>
                          <a:spcPts val="0"/>
                        </a:spcAft>
                      </a:pPr>
                      <a:r>
                        <a:rPr lang="en-US" sz="1000" dirty="0">
                          <a:effectLst/>
                          <a:latin typeface="Times New Roman"/>
                          <a:ea typeface="Times New Roman"/>
                        </a:rPr>
                        <a:t>560,000</a:t>
                      </a:r>
                      <a:endParaRPr lang="en-US" sz="1200" dirty="0">
                        <a:effectLst/>
                        <a:latin typeface="Times New Roman"/>
                        <a:ea typeface="Times New Roman"/>
                      </a:endParaRPr>
                    </a:p>
                    <a:p>
                      <a:pPr marL="0" marR="0" algn="just">
                        <a:spcBef>
                          <a:spcPts val="0"/>
                        </a:spcBef>
                        <a:spcAft>
                          <a:spcPts val="0"/>
                        </a:spcAft>
                      </a:pPr>
                      <a:r>
                        <a:rPr lang="en-US" sz="1000" dirty="0">
                          <a:effectLst/>
                          <a:latin typeface="Times New Roman"/>
                          <a:ea typeface="Times New Roman"/>
                        </a:rPr>
                        <a:t> </a:t>
                      </a:r>
                      <a:endParaRPr lang="en-US" sz="1200" dirty="0">
                        <a:effectLst/>
                        <a:latin typeface="Times New Roman"/>
                        <a:ea typeface="Times New Roman"/>
                      </a:endParaRPr>
                    </a:p>
                    <a:p>
                      <a:pPr marL="0" marR="0" algn="just">
                        <a:spcBef>
                          <a:spcPts val="0"/>
                        </a:spcBef>
                        <a:spcAft>
                          <a:spcPts val="0"/>
                        </a:spcAft>
                      </a:pPr>
                      <a:r>
                        <a:rPr lang="en-US" sz="1000" dirty="0">
                          <a:effectLst/>
                          <a:latin typeface="Times New Roman"/>
                          <a:ea typeface="Times New Roman"/>
                        </a:rPr>
                        <a:t>300,000</a:t>
                      </a:r>
                      <a:endParaRPr lang="en-US" sz="1200" dirty="0">
                        <a:effectLst/>
                        <a:latin typeface="Times New Roman"/>
                        <a:ea typeface="Times New Roman"/>
                      </a:endParaRPr>
                    </a:p>
                    <a:p>
                      <a:pPr marL="0" marR="0" algn="just">
                        <a:spcBef>
                          <a:spcPts val="0"/>
                        </a:spcBef>
                        <a:spcAft>
                          <a:spcPts val="0"/>
                        </a:spcAft>
                      </a:pPr>
                      <a:r>
                        <a:rPr lang="en-US" sz="1000" dirty="0">
                          <a:effectLst/>
                          <a:latin typeface="Times New Roman"/>
                          <a:ea typeface="Times New Roman"/>
                        </a:rPr>
                        <a:t>600,000</a:t>
                      </a:r>
                      <a:endParaRPr lang="en-US" sz="1200"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Jul 09 6</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8</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23</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26</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30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31</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Rent</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Bank</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John</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Cash</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Wages</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Bal</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GL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GL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GL</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C/D</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800,000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300,00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1,000,000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600,000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1,000,000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1,500,000</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p>
                      <a:pPr marL="0" marR="0" algn="just">
                        <a:spcBef>
                          <a:spcPts val="0"/>
                        </a:spcBef>
                        <a:spcAft>
                          <a:spcPts val="0"/>
                        </a:spcAft>
                      </a:pPr>
                      <a:r>
                        <a:rPr lang="en-US" sz="1000">
                          <a:effectLst/>
                          <a:latin typeface="Times New Roman"/>
                          <a:ea typeface="Times New Roman"/>
                        </a:rPr>
                        <a:t>8,960,000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9663">
                <a:tc>
                  <a:txBody>
                    <a:bodyPr/>
                    <a:lstStyle/>
                    <a:p>
                      <a:pPr marL="0" marR="0" algn="just">
                        <a:spcBef>
                          <a:spcPts val="0"/>
                        </a:spcBef>
                        <a:spcAft>
                          <a:spcPts val="0"/>
                        </a:spcAft>
                      </a:pPr>
                      <a:r>
                        <a:rPr lang="en-US"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2,700,000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11,460,000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2,700,000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11,460,000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3053">
                <a:tc>
                  <a:txBody>
                    <a:bodyPr/>
                    <a:lstStyle/>
                    <a:p>
                      <a:pPr marL="0" marR="0" algn="just">
                        <a:spcBef>
                          <a:spcPts val="0"/>
                        </a:spcBef>
                        <a:spcAft>
                          <a:spcPts val="0"/>
                        </a:spcAft>
                      </a:pPr>
                      <a:r>
                        <a:rPr lang="en-US" sz="1000">
                          <a:effectLst/>
                          <a:latin typeface="Times New Roman"/>
                          <a:ea typeface="Times New Roman"/>
                        </a:rPr>
                        <a:t>Aug 1</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Bal</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B/F</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600,000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8,960,000</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a:effectLst/>
                          <a:latin typeface="Times New Roman"/>
                          <a:ea typeface="Times New Roman"/>
                        </a:rPr>
                        <a:t> </a:t>
                      </a:r>
                      <a:endParaRPr lang="en-US" sz="120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000" dirty="0">
                          <a:effectLst/>
                          <a:latin typeface="Times New Roman"/>
                          <a:ea typeface="Times New Roman"/>
                        </a:rPr>
                        <a:t> </a:t>
                      </a:r>
                      <a:endParaRPr lang="en-US" sz="1200"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0835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533400"/>
            <a:ext cx="9144000" cy="6324600"/>
          </a:xfrm>
        </p:spPr>
        <p:txBody>
          <a:bodyPr>
            <a:normAutofit fontScale="92500" lnSpcReduction="20000"/>
          </a:bodyPr>
          <a:lstStyle/>
          <a:p>
            <a:pPr marL="0" indent="0">
              <a:buNone/>
            </a:pPr>
            <a:r>
              <a:rPr lang="en-US" dirty="0"/>
              <a:t>Example of a cash book with discounts column</a:t>
            </a:r>
          </a:p>
          <a:p>
            <a:pPr marL="0" indent="0">
              <a:buNone/>
            </a:pPr>
            <a:r>
              <a:rPr lang="en-US" dirty="0"/>
              <a:t>Dec 08 </a:t>
            </a:r>
          </a:p>
          <a:p>
            <a:pPr marL="0" indent="0">
              <a:buNone/>
            </a:pPr>
            <a:r>
              <a:rPr lang="en-US" dirty="0"/>
              <a:t>1 Bal </a:t>
            </a:r>
            <a:r>
              <a:rPr lang="en-US" dirty="0" err="1"/>
              <a:t>b/f</a:t>
            </a:r>
            <a:r>
              <a:rPr lang="en-US" dirty="0"/>
              <a:t> from Nov cash </a:t>
            </a:r>
            <a:r>
              <a:rPr lang="en-US" dirty="0" err="1"/>
              <a:t>shs</a:t>
            </a:r>
            <a:r>
              <a:rPr lang="en-US" dirty="0"/>
              <a:t> 29,000 and bank </a:t>
            </a:r>
            <a:r>
              <a:rPr lang="en-US" dirty="0" err="1"/>
              <a:t>shs</a:t>
            </a:r>
            <a:r>
              <a:rPr lang="en-US" dirty="0"/>
              <a:t> 654,000.</a:t>
            </a:r>
          </a:p>
          <a:p>
            <a:pPr marL="0" indent="0">
              <a:buNone/>
            </a:pPr>
            <a:r>
              <a:rPr lang="en-US" dirty="0"/>
              <a:t> Accounts receivable are John </a:t>
            </a:r>
            <a:r>
              <a:rPr lang="en-US" dirty="0" err="1"/>
              <a:t>shs</a:t>
            </a:r>
            <a:r>
              <a:rPr lang="en-US" dirty="0"/>
              <a:t> 120,000, Jimmy </a:t>
            </a:r>
            <a:r>
              <a:rPr lang="en-US" dirty="0" err="1"/>
              <a:t>shs</a:t>
            </a:r>
            <a:r>
              <a:rPr lang="en-US" dirty="0"/>
              <a:t> 280,000 and Jackie </a:t>
            </a:r>
            <a:r>
              <a:rPr lang="en-US" dirty="0" err="1"/>
              <a:t>shs</a:t>
            </a:r>
            <a:r>
              <a:rPr lang="en-US" dirty="0"/>
              <a:t> 40,000.</a:t>
            </a:r>
          </a:p>
          <a:p>
            <a:pPr marL="0" indent="0">
              <a:buNone/>
            </a:pPr>
            <a:r>
              <a:rPr lang="en-US" dirty="0"/>
              <a:t>Accounts payable are Alice </a:t>
            </a:r>
            <a:r>
              <a:rPr lang="en-US" dirty="0" err="1"/>
              <a:t>shs</a:t>
            </a:r>
            <a:r>
              <a:rPr lang="en-US" dirty="0"/>
              <a:t>. 60,000, </a:t>
            </a:r>
            <a:r>
              <a:rPr lang="en-US" dirty="0" err="1"/>
              <a:t>Annet</a:t>
            </a:r>
            <a:r>
              <a:rPr lang="en-US" dirty="0"/>
              <a:t> </a:t>
            </a:r>
            <a:r>
              <a:rPr lang="en-US" dirty="0" err="1"/>
              <a:t>shs</a:t>
            </a:r>
            <a:r>
              <a:rPr lang="en-US" dirty="0"/>
              <a:t> 440,000 and Allen </a:t>
            </a:r>
            <a:r>
              <a:rPr lang="en-US" dirty="0" err="1"/>
              <a:t>shs</a:t>
            </a:r>
            <a:r>
              <a:rPr lang="en-US" dirty="0"/>
              <a:t> 100,000.</a:t>
            </a:r>
          </a:p>
          <a:p>
            <a:pPr marL="0" indent="0">
              <a:buNone/>
            </a:pPr>
            <a:r>
              <a:rPr lang="en-US" dirty="0"/>
              <a:t>2  John pays by </a:t>
            </a:r>
            <a:r>
              <a:rPr lang="en-US" dirty="0" err="1"/>
              <a:t>cheque</a:t>
            </a:r>
            <a:r>
              <a:rPr lang="en-US" dirty="0"/>
              <a:t> having deducted 2.5% cash discount</a:t>
            </a:r>
          </a:p>
          <a:p>
            <a:pPr marL="514350" indent="-514350">
              <a:buAutoNum type="arabicPlain" startAt="8"/>
            </a:pPr>
            <a:r>
              <a:rPr lang="en-US" dirty="0"/>
              <a:t>We pay Allen her account by cheque deducting 5% cash discount.</a:t>
            </a:r>
          </a:p>
          <a:p>
            <a:pPr marL="0" indent="0">
              <a:buNone/>
            </a:pPr>
            <a:r>
              <a:rPr lang="en-US" dirty="0"/>
              <a:t>11  We withdrew </a:t>
            </a:r>
            <a:r>
              <a:rPr lang="en-US" dirty="0" err="1"/>
              <a:t>shs</a:t>
            </a:r>
            <a:r>
              <a:rPr lang="en-US" dirty="0"/>
              <a:t> 100,000 cash from the bank for business use.</a:t>
            </a:r>
          </a:p>
          <a:p>
            <a:pPr marL="0" indent="0">
              <a:buNone/>
            </a:pPr>
            <a:r>
              <a:rPr lang="en-US" dirty="0"/>
              <a:t>16  Jimmy pays us his account by </a:t>
            </a:r>
            <a:r>
              <a:rPr lang="en-US" dirty="0" err="1"/>
              <a:t>cheque</a:t>
            </a:r>
            <a:r>
              <a:rPr lang="en-US" dirty="0"/>
              <a:t> deducting 2.5% cash discount.</a:t>
            </a:r>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768360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381000"/>
            <a:ext cx="9144000" cy="6477000"/>
          </a:xfrm>
        </p:spPr>
        <p:txBody>
          <a:bodyPr>
            <a:normAutofit/>
          </a:bodyPr>
          <a:lstStyle/>
          <a:p>
            <a:pPr marL="0" indent="0">
              <a:buNone/>
            </a:pPr>
            <a:r>
              <a:rPr lang="en-US" sz="3500" dirty="0"/>
              <a:t>25  We paid office expenses in cash </a:t>
            </a:r>
            <a:r>
              <a:rPr lang="en-US" sz="3500" dirty="0" err="1"/>
              <a:t>shs</a:t>
            </a:r>
            <a:r>
              <a:rPr lang="en-US" sz="3500" dirty="0"/>
              <a:t> 92,000.</a:t>
            </a:r>
          </a:p>
          <a:p>
            <a:pPr marL="0" indent="0">
              <a:buNone/>
            </a:pPr>
            <a:r>
              <a:rPr lang="en-US" sz="3500" dirty="0"/>
              <a:t>28  Jackie pays us in cash having deducted 5% cash discount.</a:t>
            </a:r>
          </a:p>
          <a:p>
            <a:pPr marL="0" indent="0">
              <a:buNone/>
            </a:pPr>
            <a:r>
              <a:rPr lang="en-US" sz="3500" dirty="0"/>
              <a:t>29  We pay Alice by cheques less 5% cash discount.</a:t>
            </a:r>
          </a:p>
          <a:p>
            <a:pPr marL="0" indent="0">
              <a:buNone/>
            </a:pPr>
            <a:r>
              <a:rPr lang="en-US" sz="3500" dirty="0"/>
              <a:t>30  We pay </a:t>
            </a:r>
            <a:r>
              <a:rPr lang="en-US" sz="3500" dirty="0" err="1"/>
              <a:t>Annet</a:t>
            </a:r>
            <a:r>
              <a:rPr lang="en-US" sz="3500" dirty="0"/>
              <a:t> by </a:t>
            </a:r>
            <a:r>
              <a:rPr lang="en-US" sz="3500" dirty="0" err="1"/>
              <a:t>cheque</a:t>
            </a:r>
            <a:r>
              <a:rPr lang="en-US" sz="3500" dirty="0"/>
              <a:t> less 2.5% cash discount.</a:t>
            </a:r>
          </a:p>
          <a:p>
            <a:pPr marL="0" indent="0">
              <a:buNone/>
            </a:pPr>
            <a:r>
              <a:rPr lang="en-US" sz="3500" dirty="0"/>
              <a:t> Prepare a cash book for the month of Nov 08.</a:t>
            </a:r>
          </a:p>
          <a:p>
            <a:endParaRPr lang="en-US" dirty="0"/>
          </a:p>
        </p:txBody>
      </p:sp>
    </p:spTree>
    <p:extLst>
      <p:ext uri="{BB962C8B-B14F-4D97-AF65-F5344CB8AC3E}">
        <p14:creationId xmlns:p14="http://schemas.microsoft.com/office/powerpoint/2010/main" val="914000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ANALYTICAL PETTY CASH BOOK</a:t>
            </a:r>
            <a:br>
              <a:rPr lang="en-US" dirty="0"/>
            </a:br>
            <a:endParaRPr lang="en-US" dirty="0"/>
          </a:p>
        </p:txBody>
      </p:sp>
      <p:sp>
        <p:nvSpPr>
          <p:cNvPr id="3" name="Content Placeholder 2"/>
          <p:cNvSpPr>
            <a:spLocks noGrp="1"/>
          </p:cNvSpPr>
          <p:nvPr>
            <p:ph idx="1"/>
          </p:nvPr>
        </p:nvSpPr>
        <p:spPr>
          <a:xfrm>
            <a:off x="0" y="381000"/>
            <a:ext cx="9144000" cy="6477000"/>
          </a:xfrm>
        </p:spPr>
        <p:txBody>
          <a:bodyPr>
            <a:normAutofit fontScale="92500" lnSpcReduction="10000"/>
          </a:bodyPr>
          <a:lstStyle/>
          <a:p>
            <a:r>
              <a:rPr lang="en-US" dirty="0"/>
              <a:t>As the business grows bigger, there are some small payments that it makes that if put in the main cash book, would make it more difficult to identify the important transactions that the business need to keep a close eye upon. A petty cash book is therefore used to record and </a:t>
            </a:r>
            <a:r>
              <a:rPr lang="en-US" dirty="0" err="1"/>
              <a:t>analyse</a:t>
            </a:r>
            <a:r>
              <a:rPr lang="en-US" dirty="0"/>
              <a:t> those small transaction. </a:t>
            </a:r>
          </a:p>
          <a:p>
            <a:r>
              <a:rPr lang="en-US" dirty="0"/>
              <a:t>Usually, an </a:t>
            </a:r>
            <a:r>
              <a:rPr lang="en-US" dirty="0" err="1"/>
              <a:t>imprest</a:t>
            </a:r>
            <a:r>
              <a:rPr lang="en-US" dirty="0"/>
              <a:t> system is used where the main cashier gives the petty cashier enough cash to meet the petty cash needs for the period of time. At the end of the period, the main cashier finds out how much the petty cashier has spent and he reimburses the amount equal to what the petty cashier has spent so as to put him in his original cash position as he was in the beginning.</a:t>
            </a:r>
          </a:p>
          <a:p>
            <a:endParaRPr lang="en-US" dirty="0"/>
          </a:p>
        </p:txBody>
      </p:sp>
    </p:spTree>
    <p:extLst>
      <p:ext uri="{BB962C8B-B14F-4D97-AF65-F5344CB8AC3E}">
        <p14:creationId xmlns:p14="http://schemas.microsoft.com/office/powerpoint/2010/main" val="1975017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457200"/>
            <a:ext cx="9144000" cy="6400800"/>
          </a:xfrm>
        </p:spPr>
        <p:txBody>
          <a:bodyPr/>
          <a:lstStyle/>
          <a:p>
            <a:pPr marL="0" indent="0">
              <a:buNone/>
            </a:pPr>
            <a:r>
              <a:rPr lang="en-US" sz="3600" dirty="0"/>
              <a:t>The main advantages of petty cash system are:</a:t>
            </a:r>
          </a:p>
          <a:p>
            <a:pPr lvl="0"/>
            <a:r>
              <a:rPr lang="en-US" sz="3600" dirty="0"/>
              <a:t>The main cashier is relieved from the task of recording small cash payments.</a:t>
            </a:r>
          </a:p>
          <a:p>
            <a:pPr lvl="0"/>
            <a:r>
              <a:rPr lang="en-US" sz="3600" dirty="0"/>
              <a:t>The main cash book is not congested by the small petty payments</a:t>
            </a:r>
          </a:p>
          <a:p>
            <a:endParaRPr lang="en-US" dirty="0"/>
          </a:p>
        </p:txBody>
      </p:sp>
    </p:spTree>
    <p:extLst>
      <p:ext uri="{BB962C8B-B14F-4D97-AF65-F5344CB8AC3E}">
        <p14:creationId xmlns:p14="http://schemas.microsoft.com/office/powerpoint/2010/main" val="458622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533400"/>
          </a:xfrm>
        </p:spPr>
        <p:txBody>
          <a:bodyPr>
            <a:normAutofit fontScale="90000"/>
          </a:bodyPr>
          <a:lstStyle/>
          <a:p>
            <a:r>
              <a:rPr lang="en-US" b="1" dirty="0"/>
              <a:t>LAY OUT OF A PETTY CASH BOOK</a:t>
            </a:r>
            <a:br>
              <a:rPr lang="en-US" dirty="0"/>
            </a:br>
            <a:endParaRPr lang="en-US" dirty="0"/>
          </a:p>
        </p:txBody>
      </p:sp>
      <p:pic>
        <p:nvPicPr>
          <p:cNvPr id="10241" name="Picture 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371600"/>
            <a:ext cx="9144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7386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b="1" dirty="0"/>
              <a:t>PROCEDURE</a:t>
            </a:r>
            <a:endParaRPr lang="en-US" dirty="0"/>
          </a:p>
        </p:txBody>
      </p:sp>
      <p:sp>
        <p:nvSpPr>
          <p:cNvPr id="3" name="Content Placeholder 2"/>
          <p:cNvSpPr>
            <a:spLocks noGrp="1"/>
          </p:cNvSpPr>
          <p:nvPr>
            <p:ph idx="1"/>
          </p:nvPr>
        </p:nvSpPr>
        <p:spPr>
          <a:xfrm>
            <a:off x="0" y="457200"/>
            <a:ext cx="9144000" cy="6400800"/>
          </a:xfrm>
        </p:spPr>
        <p:txBody>
          <a:bodyPr>
            <a:normAutofit fontScale="85000" lnSpcReduction="10000"/>
          </a:bodyPr>
          <a:lstStyle/>
          <a:p>
            <a:pPr lvl="0"/>
            <a:r>
              <a:rPr lang="en-US" dirty="0"/>
              <a:t>Enter the data and details of each payment. Put the amount paid in the total column.</a:t>
            </a:r>
          </a:p>
          <a:p>
            <a:pPr lvl="0"/>
            <a:r>
              <a:rPr lang="en-US" dirty="0"/>
              <a:t>Put the same amount in the column for that type of expense</a:t>
            </a:r>
          </a:p>
          <a:p>
            <a:pPr lvl="0"/>
            <a:r>
              <a:rPr lang="en-US" dirty="0"/>
              <a:t>At the end of the period, add up the total column.</a:t>
            </a:r>
          </a:p>
          <a:p>
            <a:pPr lvl="0"/>
            <a:r>
              <a:rPr lang="en-US" dirty="0"/>
              <a:t>Add up each of the expense column. The total found at step three should be equal to the total of all expense columns</a:t>
            </a:r>
          </a:p>
          <a:p>
            <a:pPr lvl="0"/>
            <a:r>
              <a:rPr lang="en-US" dirty="0"/>
              <a:t>Enter the amount reimbursed to make up the float in the receipt column.</a:t>
            </a:r>
          </a:p>
          <a:p>
            <a:pPr lvl="0"/>
            <a:r>
              <a:rPr lang="en-US" dirty="0"/>
              <a:t>Balance off the petty cash book carrying down the petty cash in hand to the next period.</a:t>
            </a:r>
          </a:p>
          <a:p>
            <a:r>
              <a:rPr lang="en-US" dirty="0"/>
              <a:t>The last column of the petty cash book is a ledger column which contains items paid out of petty cash which need posting to the ledger other than the general ledger e.g. if purchases ledger is settled out of petty cash.</a:t>
            </a:r>
          </a:p>
          <a:p>
            <a:endParaRPr lang="en-US" dirty="0"/>
          </a:p>
        </p:txBody>
      </p:sp>
    </p:spTree>
    <p:extLst>
      <p:ext uri="{BB962C8B-B14F-4D97-AF65-F5344CB8AC3E}">
        <p14:creationId xmlns:p14="http://schemas.microsoft.com/office/powerpoint/2010/main" val="161556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rmAutofit fontScale="90000"/>
          </a:bodyPr>
          <a:lstStyle/>
          <a:p>
            <a:r>
              <a:rPr lang="en-US" dirty="0"/>
              <a:t>Example:</a:t>
            </a:r>
            <a:br>
              <a:rPr lang="en-US" dirty="0"/>
            </a:br>
            <a:endParaRPr lang="en-US" dirty="0"/>
          </a:p>
        </p:txBody>
      </p:sp>
      <p:sp>
        <p:nvSpPr>
          <p:cNvPr id="3" name="Content Placeholder 2"/>
          <p:cNvSpPr>
            <a:spLocks noGrp="1"/>
          </p:cNvSpPr>
          <p:nvPr>
            <p:ph idx="1"/>
          </p:nvPr>
        </p:nvSpPr>
        <p:spPr>
          <a:xfrm>
            <a:off x="0" y="381000"/>
            <a:ext cx="9144000" cy="6477000"/>
          </a:xfrm>
        </p:spPr>
        <p:txBody>
          <a:bodyPr>
            <a:normAutofit fontScale="85000" lnSpcReduction="10000"/>
          </a:bodyPr>
          <a:lstStyle/>
          <a:p>
            <a:r>
              <a:rPr lang="en-US" dirty="0"/>
              <a:t>Enter the following in a petty cash of MJ Schools Ltd.</a:t>
            </a:r>
          </a:p>
          <a:p>
            <a:r>
              <a:rPr lang="en-US" dirty="0"/>
              <a:t>2008 Dec 1   The head teacher gives </a:t>
            </a:r>
            <a:r>
              <a:rPr lang="en-US" dirty="0" err="1"/>
              <a:t>shs</a:t>
            </a:r>
            <a:r>
              <a:rPr lang="en-US" dirty="0"/>
              <a:t> 300,000 as a float for petty cash.</a:t>
            </a:r>
          </a:p>
          <a:p>
            <a:r>
              <a:rPr lang="en-US" dirty="0"/>
              <a:t>                      Payment out of the petty cash are as follows:</a:t>
            </a:r>
          </a:p>
          <a:p>
            <a:pPr marL="0" lvl="0" indent="0">
              <a:buNone/>
            </a:pPr>
            <a:r>
              <a:rPr lang="en-US" dirty="0"/>
              <a:t>2  </a:t>
            </a:r>
            <a:r>
              <a:rPr lang="en-US" dirty="0" err="1"/>
              <a:t>Vr</a:t>
            </a:r>
            <a:r>
              <a:rPr lang="en-US" dirty="0"/>
              <a:t> no 1 petrol for the school bus </a:t>
            </a:r>
            <a:r>
              <a:rPr lang="en-US" dirty="0" err="1"/>
              <a:t>shs</a:t>
            </a:r>
            <a:r>
              <a:rPr lang="en-US" dirty="0"/>
              <a:t> 16,000.</a:t>
            </a:r>
          </a:p>
          <a:p>
            <a:pPr marL="0" lvl="0" indent="0">
              <a:buNone/>
            </a:pPr>
            <a:r>
              <a:rPr lang="en-US" dirty="0"/>
              <a:t>3  </a:t>
            </a:r>
            <a:r>
              <a:rPr lang="en-US" dirty="0" err="1"/>
              <a:t>Vr</a:t>
            </a:r>
            <a:r>
              <a:rPr lang="en-US" dirty="0"/>
              <a:t>. No 2  paid Green traveling expenses of </a:t>
            </a:r>
            <a:r>
              <a:rPr lang="en-US" dirty="0" err="1"/>
              <a:t>shs</a:t>
            </a:r>
            <a:r>
              <a:rPr lang="en-US" dirty="0"/>
              <a:t> 23,000.</a:t>
            </a:r>
          </a:p>
          <a:p>
            <a:pPr marL="0" lvl="0" indent="0">
              <a:buNone/>
            </a:pPr>
            <a:r>
              <a:rPr lang="en-US" dirty="0"/>
              <a:t>3  </a:t>
            </a:r>
            <a:r>
              <a:rPr lang="en-US" dirty="0" err="1"/>
              <a:t>Vr</a:t>
            </a:r>
            <a:r>
              <a:rPr lang="en-US" dirty="0"/>
              <a:t>. No 3 paid postage </a:t>
            </a:r>
            <a:r>
              <a:rPr lang="en-US" dirty="0" err="1"/>
              <a:t>shs</a:t>
            </a:r>
            <a:r>
              <a:rPr lang="en-US" dirty="0"/>
              <a:t> 12,000.</a:t>
            </a:r>
          </a:p>
          <a:p>
            <a:pPr marL="0" lvl="0" indent="0">
              <a:buNone/>
            </a:pPr>
            <a:r>
              <a:rPr lang="en-US" dirty="0"/>
              <a:t>4  </a:t>
            </a:r>
            <a:r>
              <a:rPr lang="en-US" dirty="0" err="1"/>
              <a:t>Vr</a:t>
            </a:r>
            <a:r>
              <a:rPr lang="en-US" dirty="0"/>
              <a:t>. No 4 paid Davis traveling exp </a:t>
            </a:r>
            <a:r>
              <a:rPr lang="en-US" dirty="0" err="1"/>
              <a:t>shs</a:t>
            </a:r>
            <a:r>
              <a:rPr lang="en-US" dirty="0"/>
              <a:t> 32,000.</a:t>
            </a:r>
          </a:p>
          <a:p>
            <a:pPr marL="0" lvl="0" indent="0">
              <a:buNone/>
            </a:pPr>
            <a:r>
              <a:rPr lang="en-US" dirty="0"/>
              <a:t>7 </a:t>
            </a:r>
            <a:r>
              <a:rPr lang="en-US" dirty="0" err="1"/>
              <a:t>Vr</a:t>
            </a:r>
            <a:r>
              <a:rPr lang="en-US" dirty="0"/>
              <a:t>. No. 5 Paid for cleaning expenses </a:t>
            </a:r>
            <a:r>
              <a:rPr lang="en-US" dirty="0" err="1"/>
              <a:t>shs</a:t>
            </a:r>
            <a:r>
              <a:rPr lang="en-US" dirty="0"/>
              <a:t> 11,000.</a:t>
            </a:r>
          </a:p>
          <a:p>
            <a:pPr marL="0" lvl="0" indent="0">
              <a:buNone/>
            </a:pPr>
            <a:r>
              <a:rPr lang="en-US" dirty="0"/>
              <a:t>8 </a:t>
            </a:r>
            <a:r>
              <a:rPr lang="en-US" dirty="0" err="1"/>
              <a:t>Vr</a:t>
            </a:r>
            <a:r>
              <a:rPr lang="en-US" dirty="0"/>
              <a:t>. No. 6 petrol for the school bus.</a:t>
            </a:r>
          </a:p>
          <a:p>
            <a:pPr marL="0" lvl="0" indent="0">
              <a:buNone/>
            </a:pPr>
            <a:r>
              <a:rPr lang="en-US" dirty="0"/>
              <a:t>12 Vr.no 7 Paid </a:t>
            </a:r>
            <a:r>
              <a:rPr lang="en-US" dirty="0" err="1"/>
              <a:t>Jonnes</a:t>
            </a:r>
            <a:r>
              <a:rPr lang="en-US" dirty="0"/>
              <a:t> traveling exp </a:t>
            </a:r>
            <a:r>
              <a:rPr lang="en-US" dirty="0" err="1"/>
              <a:t>shs</a:t>
            </a:r>
            <a:r>
              <a:rPr lang="en-US" dirty="0"/>
              <a:t> 13,000.</a:t>
            </a:r>
          </a:p>
          <a:p>
            <a:pPr marL="0" lvl="0" indent="0">
              <a:buNone/>
            </a:pPr>
            <a:r>
              <a:rPr lang="en-US" dirty="0"/>
              <a:t>14 </a:t>
            </a:r>
            <a:r>
              <a:rPr lang="en-US" dirty="0" err="1"/>
              <a:t>Vr</a:t>
            </a:r>
            <a:r>
              <a:rPr lang="en-US" dirty="0"/>
              <a:t>. No 8 Bought petrol for the school bus </a:t>
            </a:r>
            <a:r>
              <a:rPr lang="en-US" dirty="0" err="1"/>
              <a:t>shs</a:t>
            </a:r>
            <a:r>
              <a:rPr lang="en-US" dirty="0"/>
              <a:t> 23,000.</a:t>
            </a:r>
          </a:p>
          <a:p>
            <a:pPr marL="0" lvl="0" indent="0">
              <a:buNone/>
            </a:pPr>
            <a:r>
              <a:rPr lang="en-US" dirty="0"/>
              <a:t>15 </a:t>
            </a:r>
            <a:r>
              <a:rPr lang="en-US" dirty="0" err="1"/>
              <a:t>Vr</a:t>
            </a:r>
            <a:r>
              <a:rPr lang="en-US" dirty="0"/>
              <a:t>. No 9 Paid Black traveling expenses of </a:t>
            </a:r>
            <a:r>
              <a:rPr lang="en-US" dirty="0" err="1"/>
              <a:t>shs</a:t>
            </a:r>
            <a:r>
              <a:rPr lang="en-US" dirty="0"/>
              <a:t> 5,000.</a:t>
            </a:r>
          </a:p>
          <a:p>
            <a:pPr marL="0" lvl="0" indent="0">
              <a:buNone/>
            </a:pPr>
            <a:r>
              <a:rPr lang="en-US" dirty="0"/>
              <a:t>16 </a:t>
            </a:r>
            <a:r>
              <a:rPr lang="en-US" dirty="0" err="1"/>
              <a:t>Vr</a:t>
            </a:r>
            <a:r>
              <a:rPr lang="en-US" dirty="0"/>
              <a:t>. No. 10  paid for cleaning services </a:t>
            </a:r>
            <a:r>
              <a:rPr lang="en-US" dirty="0" err="1"/>
              <a:t>shs</a:t>
            </a:r>
            <a:r>
              <a:rPr lang="en-US" dirty="0"/>
              <a:t> 11,000.</a:t>
            </a:r>
          </a:p>
        </p:txBody>
      </p:sp>
    </p:spTree>
    <p:extLst>
      <p:ext uri="{BB962C8B-B14F-4D97-AF65-F5344CB8AC3E}">
        <p14:creationId xmlns:p14="http://schemas.microsoft.com/office/powerpoint/2010/main" val="4231453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609600"/>
            <a:ext cx="9144000" cy="6248400"/>
          </a:xfrm>
        </p:spPr>
        <p:txBody>
          <a:bodyPr>
            <a:normAutofit/>
          </a:bodyPr>
          <a:lstStyle/>
          <a:p>
            <a:pPr marL="0" lvl="0" indent="0">
              <a:buNone/>
            </a:pPr>
            <a:r>
              <a:rPr lang="en-US" dirty="0"/>
              <a:t>17 </a:t>
            </a:r>
            <a:r>
              <a:rPr lang="en-US" dirty="0" err="1"/>
              <a:t>Vr</a:t>
            </a:r>
            <a:r>
              <a:rPr lang="en-US" dirty="0"/>
              <a:t>. No. 11 Bought petrol for the school bus </a:t>
            </a:r>
            <a:r>
              <a:rPr lang="en-US" dirty="0" err="1"/>
              <a:t>shs</a:t>
            </a:r>
            <a:r>
              <a:rPr lang="en-US" dirty="0"/>
              <a:t> 22,000.</a:t>
            </a:r>
          </a:p>
          <a:p>
            <a:pPr marL="0" lvl="0" indent="0">
              <a:buNone/>
            </a:pPr>
            <a:r>
              <a:rPr lang="en-US" dirty="0"/>
              <a:t>20 </a:t>
            </a:r>
            <a:r>
              <a:rPr lang="en-US" dirty="0" err="1"/>
              <a:t>Vr</a:t>
            </a:r>
            <a:r>
              <a:rPr lang="en-US" dirty="0"/>
              <a:t>. No. 12 Paid for postage </a:t>
            </a:r>
            <a:r>
              <a:rPr lang="en-US" dirty="0" err="1"/>
              <a:t>shs</a:t>
            </a:r>
            <a:r>
              <a:rPr lang="en-US" dirty="0"/>
              <a:t> 12,000.</a:t>
            </a:r>
          </a:p>
          <a:p>
            <a:pPr marL="0" lvl="0" indent="0">
              <a:buNone/>
            </a:pPr>
            <a:r>
              <a:rPr lang="en-US" dirty="0"/>
              <a:t>21 </a:t>
            </a:r>
            <a:r>
              <a:rPr lang="en-US" dirty="0" err="1"/>
              <a:t>Vr</a:t>
            </a:r>
            <a:r>
              <a:rPr lang="en-US" dirty="0"/>
              <a:t>. No. 13 Paid for cleaning services </a:t>
            </a:r>
            <a:r>
              <a:rPr lang="en-US" dirty="0" err="1"/>
              <a:t>shs</a:t>
            </a:r>
            <a:r>
              <a:rPr lang="en-US" dirty="0"/>
              <a:t> 11,000.</a:t>
            </a:r>
          </a:p>
          <a:p>
            <a:pPr marL="0" lvl="0" indent="0">
              <a:buNone/>
            </a:pPr>
            <a:r>
              <a:rPr lang="en-US" dirty="0"/>
              <a:t>22 </a:t>
            </a:r>
            <a:r>
              <a:rPr lang="en-US" dirty="0" err="1"/>
              <a:t>Vr</a:t>
            </a:r>
            <a:r>
              <a:rPr lang="en-US" dirty="0"/>
              <a:t>. No 14 Paid wood traveling expenses </a:t>
            </a:r>
            <a:r>
              <a:rPr lang="en-US" dirty="0" err="1"/>
              <a:t>shs</a:t>
            </a:r>
            <a:r>
              <a:rPr lang="en-US" dirty="0"/>
              <a:t> 7,000.</a:t>
            </a:r>
          </a:p>
          <a:p>
            <a:pPr marL="0" lvl="0" indent="0">
              <a:buNone/>
            </a:pPr>
            <a:r>
              <a:rPr lang="en-US" dirty="0"/>
              <a:t>27 </a:t>
            </a:r>
            <a:r>
              <a:rPr lang="en-US" dirty="0" err="1"/>
              <a:t>Vr</a:t>
            </a:r>
            <a:r>
              <a:rPr lang="en-US" dirty="0"/>
              <a:t>. No. 15 settled Browns account in purchases ledger </a:t>
            </a:r>
            <a:r>
              <a:rPr lang="en-US" dirty="0" err="1"/>
              <a:t>shs</a:t>
            </a:r>
            <a:r>
              <a:rPr lang="en-US" dirty="0"/>
              <a:t> 13,000.</a:t>
            </a:r>
          </a:p>
          <a:p>
            <a:pPr marL="0" lvl="0" indent="0">
              <a:buNone/>
            </a:pPr>
            <a:r>
              <a:rPr lang="en-US" dirty="0"/>
              <a:t>28 </a:t>
            </a:r>
            <a:r>
              <a:rPr lang="en-US" dirty="0" err="1"/>
              <a:t>Vr</a:t>
            </a:r>
            <a:r>
              <a:rPr lang="en-US" dirty="0"/>
              <a:t>. No. 16 paid for postage </a:t>
            </a:r>
            <a:r>
              <a:rPr lang="en-US" dirty="0" err="1"/>
              <a:t>shs</a:t>
            </a:r>
            <a:r>
              <a:rPr lang="en-US" dirty="0"/>
              <a:t> 12,000.</a:t>
            </a:r>
          </a:p>
          <a:p>
            <a:pPr marL="0" indent="0">
              <a:buNone/>
            </a:pPr>
            <a:r>
              <a:rPr lang="en-US" dirty="0"/>
              <a:t>29 The Head teacher reimbursed the petty cashier the cash spent for the month.</a:t>
            </a:r>
          </a:p>
          <a:p>
            <a:endParaRPr lang="en-US" dirty="0"/>
          </a:p>
        </p:txBody>
      </p:sp>
    </p:spTree>
    <p:extLst>
      <p:ext uri="{BB962C8B-B14F-4D97-AF65-F5344CB8AC3E}">
        <p14:creationId xmlns:p14="http://schemas.microsoft.com/office/powerpoint/2010/main" val="3875047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a:t> </a:t>
            </a:r>
            <a:br>
              <a:rPr lang="en-US" dirty="0"/>
            </a:br>
            <a:r>
              <a:rPr lang="en-US" b="1" dirty="0"/>
              <a:t>COLUMNAR DAY BOOKS</a:t>
            </a:r>
            <a:br>
              <a:rPr lang="en-US" dirty="0"/>
            </a:br>
            <a:endParaRPr lang="en-US" dirty="0"/>
          </a:p>
        </p:txBody>
      </p:sp>
      <p:sp>
        <p:nvSpPr>
          <p:cNvPr id="3" name="Content Placeholder 2"/>
          <p:cNvSpPr>
            <a:spLocks noGrp="1"/>
          </p:cNvSpPr>
          <p:nvPr>
            <p:ph idx="1"/>
          </p:nvPr>
        </p:nvSpPr>
        <p:spPr>
          <a:xfrm>
            <a:off x="0" y="381000"/>
            <a:ext cx="9144000" cy="6477000"/>
          </a:xfrm>
        </p:spPr>
        <p:txBody>
          <a:bodyPr>
            <a:normAutofit/>
          </a:bodyPr>
          <a:lstStyle/>
          <a:p>
            <a:r>
              <a:rPr lang="en-US" sz="3600" dirty="0"/>
              <a:t>Some organizations use only one book to record all purchases on credit including purchases of good for resale, stationery, motor expenses and other non current assets. These are recorded in </a:t>
            </a:r>
            <a:r>
              <a:rPr lang="en-US" sz="3600" b="1" dirty="0"/>
              <a:t>Columnar purchases day book also known as purchase analysis book.</a:t>
            </a:r>
            <a:endParaRPr lang="en-US" sz="3600" dirty="0"/>
          </a:p>
          <a:p>
            <a:pPr marL="0" indent="0">
              <a:buNone/>
            </a:pPr>
            <a:r>
              <a:rPr lang="en-US" sz="3600" b="1" dirty="0"/>
              <a:t> </a:t>
            </a:r>
            <a:r>
              <a:rPr lang="en-US" sz="3600" dirty="0"/>
              <a:t>Similarly, organizations may record all their credit sales by section or product or division. It does this in the </a:t>
            </a:r>
            <a:r>
              <a:rPr lang="en-US" sz="3600" b="1" dirty="0"/>
              <a:t>columnar sales day book also know as sales analysis book.</a:t>
            </a:r>
            <a:endParaRPr lang="en-US" sz="3600" dirty="0"/>
          </a:p>
          <a:p>
            <a:endParaRPr lang="en-US" dirty="0"/>
          </a:p>
        </p:txBody>
      </p:sp>
    </p:spTree>
    <p:extLst>
      <p:ext uri="{BB962C8B-B14F-4D97-AF65-F5344CB8AC3E}">
        <p14:creationId xmlns:p14="http://schemas.microsoft.com/office/powerpoint/2010/main" val="1915730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533400"/>
          </a:xfrm>
        </p:spPr>
        <p:txBody>
          <a:bodyPr>
            <a:normAutofit fontScale="90000"/>
          </a:bodyPr>
          <a:lstStyle/>
          <a:p>
            <a:r>
              <a:rPr lang="en-US" b="1" dirty="0"/>
              <a:t>COLUMNAR PURCHASES DAY BOOK (PURCHASE ANALYSIS BOOK)</a:t>
            </a:r>
            <a:br>
              <a:rPr lang="en-US" dirty="0"/>
            </a:br>
            <a:endParaRPr lang="en-US" dirty="0"/>
          </a:p>
        </p:txBody>
      </p:sp>
      <p:sp>
        <p:nvSpPr>
          <p:cNvPr id="3" name="Content Placeholder 2"/>
          <p:cNvSpPr>
            <a:spLocks noGrp="1"/>
          </p:cNvSpPr>
          <p:nvPr>
            <p:ph idx="1"/>
          </p:nvPr>
        </p:nvSpPr>
        <p:spPr>
          <a:xfrm>
            <a:off x="0" y="838200"/>
            <a:ext cx="9144000" cy="6019800"/>
          </a:xfrm>
        </p:spPr>
        <p:txBody>
          <a:bodyPr>
            <a:normAutofit fontScale="92500"/>
          </a:bodyPr>
          <a:lstStyle/>
          <a:p>
            <a:pPr marL="0" indent="0">
              <a:buNone/>
            </a:pPr>
            <a:r>
              <a:rPr lang="en-US" dirty="0" err="1"/>
              <a:t>Exple</a:t>
            </a:r>
            <a:r>
              <a:rPr lang="en-US" dirty="0"/>
              <a:t>: The following were the purchases of GT ltd: </a:t>
            </a:r>
          </a:p>
          <a:p>
            <a:pPr marL="0" indent="0">
              <a:buNone/>
            </a:pPr>
            <a:r>
              <a:rPr lang="en-US" dirty="0"/>
              <a:t>May 09 </a:t>
            </a:r>
          </a:p>
          <a:p>
            <a:pPr marL="0" indent="0">
              <a:buNone/>
            </a:pPr>
            <a:r>
              <a:rPr lang="en-US" dirty="0"/>
              <a:t>1 Bought goods from Watson on credit </a:t>
            </a:r>
            <a:r>
              <a:rPr lang="en-US" dirty="0" err="1"/>
              <a:t>shs</a:t>
            </a:r>
            <a:r>
              <a:rPr lang="en-US" dirty="0"/>
              <a:t> 2,500,000.</a:t>
            </a:r>
          </a:p>
          <a:p>
            <a:pPr marL="0" lvl="0" indent="0">
              <a:buNone/>
            </a:pPr>
            <a:r>
              <a:rPr lang="en-US" dirty="0"/>
              <a:t>5 James Garage repaired the van on credit </a:t>
            </a:r>
            <a:r>
              <a:rPr lang="en-US" dirty="0" err="1"/>
              <a:t>shs</a:t>
            </a:r>
            <a:r>
              <a:rPr lang="en-US" dirty="0"/>
              <a:t> 300,000.</a:t>
            </a:r>
          </a:p>
          <a:p>
            <a:pPr marL="0" lvl="0" indent="0">
              <a:buNone/>
            </a:pPr>
            <a:r>
              <a:rPr lang="en-US" dirty="0"/>
              <a:t>9 Bought goods from John on credit </a:t>
            </a:r>
            <a:r>
              <a:rPr lang="en-US" dirty="0" err="1"/>
              <a:t>shs</a:t>
            </a:r>
            <a:r>
              <a:rPr lang="en-US" dirty="0"/>
              <a:t> 1,000,000.</a:t>
            </a:r>
          </a:p>
          <a:p>
            <a:pPr marL="0" lvl="0" indent="0">
              <a:buNone/>
            </a:pPr>
            <a:r>
              <a:rPr lang="en-US" dirty="0"/>
              <a:t>15 Lorry was serviced by </a:t>
            </a:r>
            <a:r>
              <a:rPr lang="en-US" dirty="0" err="1"/>
              <a:t>Walusimbi</a:t>
            </a:r>
            <a:r>
              <a:rPr lang="en-US" dirty="0"/>
              <a:t> Garage on credit </a:t>
            </a:r>
            <a:r>
              <a:rPr lang="en-US" dirty="0" err="1"/>
              <a:t>shs</a:t>
            </a:r>
            <a:r>
              <a:rPr lang="en-US" dirty="0"/>
              <a:t> 500,000.</a:t>
            </a:r>
          </a:p>
          <a:p>
            <a:pPr marL="0" indent="0">
              <a:buNone/>
            </a:pPr>
            <a:r>
              <a:rPr lang="en-US" dirty="0"/>
              <a:t>20 Bought packing materials on credit </a:t>
            </a:r>
            <a:r>
              <a:rPr lang="en-US" dirty="0" err="1"/>
              <a:t>shs</a:t>
            </a:r>
            <a:r>
              <a:rPr lang="en-US" dirty="0"/>
              <a:t> 150,000 from Hellen.</a:t>
            </a:r>
          </a:p>
          <a:p>
            <a:pPr marL="0" indent="0">
              <a:buNone/>
            </a:pPr>
            <a:r>
              <a:rPr lang="en-US" dirty="0"/>
              <a:t>30 Received invoice for carriage in wards on goods from </a:t>
            </a:r>
            <a:r>
              <a:rPr lang="en-US" dirty="0" err="1"/>
              <a:t>Annet</a:t>
            </a:r>
            <a:r>
              <a:rPr lang="en-US" dirty="0"/>
              <a:t> </a:t>
            </a:r>
            <a:r>
              <a:rPr lang="en-US" dirty="0" err="1"/>
              <a:t>shs</a:t>
            </a:r>
            <a:r>
              <a:rPr lang="en-US" dirty="0"/>
              <a:t> 250,000.</a:t>
            </a:r>
          </a:p>
          <a:p>
            <a:pPr marL="0" lvl="0" indent="0">
              <a:buNone/>
            </a:pPr>
            <a:endParaRPr lang="en-US" dirty="0"/>
          </a:p>
          <a:p>
            <a:endParaRPr lang="en-US" dirty="0"/>
          </a:p>
        </p:txBody>
      </p:sp>
    </p:spTree>
    <p:extLst>
      <p:ext uri="{BB962C8B-B14F-4D97-AF65-F5344CB8AC3E}">
        <p14:creationId xmlns:p14="http://schemas.microsoft.com/office/powerpoint/2010/main" val="42052391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609600"/>
            <a:ext cx="9144000" cy="5516563"/>
          </a:xfrm>
        </p:spPr>
        <p:txBody>
          <a:bodyPr/>
          <a:lstStyle/>
          <a:p>
            <a:r>
              <a:rPr lang="en-US" dirty="0"/>
              <a:t>Prepare a columnar purchases day book</a:t>
            </a:r>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979775632"/>
              </p:ext>
            </p:extLst>
          </p:nvPr>
        </p:nvGraphicFramePr>
        <p:xfrm>
          <a:off x="0" y="2187574"/>
          <a:ext cx="9144000" cy="4670426"/>
        </p:xfrm>
        <a:graphic>
          <a:graphicData uri="http://schemas.openxmlformats.org/presentationml/2006/ole">
            <mc:AlternateContent xmlns:mc="http://schemas.openxmlformats.org/markup-compatibility/2006">
              <mc:Choice xmlns:v="urn:schemas-microsoft-com:vml" Requires="v">
                <p:oleObj name="Document" r:id="rId2" imgW="5627434" imgH="2482514" progId="Word.Document.12">
                  <p:embed/>
                </p:oleObj>
              </mc:Choice>
              <mc:Fallback>
                <p:oleObj name="Document" r:id="rId2" imgW="5627434" imgH="2482514" progId="Word.Document.12">
                  <p:embed/>
                  <p:pic>
                    <p:nvPicPr>
                      <p:cNvPr id="0" name=""/>
                      <p:cNvPicPr/>
                      <p:nvPr/>
                    </p:nvPicPr>
                    <p:blipFill>
                      <a:blip r:embed="rId3"/>
                      <a:stretch>
                        <a:fillRect/>
                      </a:stretch>
                    </p:blipFill>
                    <p:spPr>
                      <a:xfrm>
                        <a:off x="0" y="2187574"/>
                        <a:ext cx="9144000" cy="4670426"/>
                      </a:xfrm>
                      <a:prstGeom prst="rect">
                        <a:avLst/>
                      </a:prstGeom>
                    </p:spPr>
                  </p:pic>
                </p:oleObj>
              </mc:Fallback>
            </mc:AlternateContent>
          </a:graphicData>
        </a:graphic>
      </p:graphicFrame>
    </p:spTree>
    <p:extLst>
      <p:ext uri="{BB962C8B-B14F-4D97-AF65-F5344CB8AC3E}">
        <p14:creationId xmlns:p14="http://schemas.microsoft.com/office/powerpoint/2010/main" val="3477698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533400"/>
          </a:xfrm>
        </p:spPr>
        <p:txBody>
          <a:bodyPr>
            <a:normAutofit fontScale="90000"/>
          </a:bodyPr>
          <a:lstStyle/>
          <a:p>
            <a:r>
              <a:rPr lang="en-US" b="1" dirty="0"/>
              <a:t>COLUMNAR SALES DAY BOOK </a:t>
            </a:r>
            <a:br>
              <a:rPr lang="en-US" dirty="0"/>
            </a:br>
            <a:endParaRPr lang="en-US" dirty="0"/>
          </a:p>
        </p:txBody>
      </p:sp>
      <p:pic>
        <p:nvPicPr>
          <p:cNvPr id="1229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838200"/>
            <a:ext cx="91440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83249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533400"/>
            <a:ext cx="9144000" cy="6324600"/>
          </a:xfrm>
        </p:spPr>
        <p:txBody>
          <a:bodyPr/>
          <a:lstStyle/>
          <a:p>
            <a:pPr marL="0" indent="0">
              <a:buNone/>
            </a:pPr>
            <a:r>
              <a:rPr lang="en-US" dirty="0"/>
              <a:t>Prepare columnar sales day book </a:t>
            </a:r>
          </a:p>
          <a:p>
            <a:pPr marL="0" indent="0">
              <a:buNone/>
            </a:pPr>
            <a:endParaRPr lang="en-US" dirty="0"/>
          </a:p>
        </p:txBody>
      </p:sp>
    </p:spTree>
    <p:extLst>
      <p:ext uri="{BB962C8B-B14F-4D97-AF65-F5344CB8AC3E}">
        <p14:creationId xmlns:p14="http://schemas.microsoft.com/office/powerpoint/2010/main" val="29542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0" y="685800"/>
            <a:ext cx="9144000" cy="6172200"/>
          </a:xfrm>
        </p:spPr>
        <p:txBody>
          <a:bodyPr/>
          <a:lstStyle/>
          <a:p>
            <a:pPr marL="0" indent="0">
              <a:buNone/>
            </a:pPr>
            <a:r>
              <a:rPr lang="en-US" sz="3600" b="1" dirty="0"/>
              <a:t>OTHER BOOKS OF PRIME ENTRY INCLUDE</a:t>
            </a:r>
            <a:endParaRPr lang="en-US" sz="3600" dirty="0"/>
          </a:p>
          <a:p>
            <a:pPr lvl="0"/>
            <a:r>
              <a:rPr lang="en-US" sz="3600" dirty="0"/>
              <a:t>Value added tax book for recording VAT transactions </a:t>
            </a:r>
          </a:p>
          <a:p>
            <a:pPr lvl="0"/>
            <a:r>
              <a:rPr lang="en-US" sz="3600" dirty="0"/>
              <a:t>The employees pay for recording wages of employees.</a:t>
            </a:r>
          </a:p>
          <a:p>
            <a:endParaRPr lang="en-US" dirty="0"/>
          </a:p>
        </p:txBody>
      </p:sp>
    </p:spTree>
    <p:extLst>
      <p:ext uri="{BB962C8B-B14F-4D97-AF65-F5344CB8AC3E}">
        <p14:creationId xmlns:p14="http://schemas.microsoft.com/office/powerpoint/2010/main" val="669436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2378</Words>
  <Application>Microsoft Office PowerPoint</Application>
  <PresentationFormat>On-screen Show (4:3)</PresentationFormat>
  <Paragraphs>255</Paragraphs>
  <Slides>39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4" baseType="lpstr">
      <vt:lpstr>Arial</vt:lpstr>
      <vt:lpstr>Calibri</vt:lpstr>
      <vt:lpstr>Times New Roman</vt:lpstr>
      <vt:lpstr>Office Theme</vt:lpstr>
      <vt:lpstr>Document</vt:lpstr>
      <vt:lpstr>Lecture 2 </vt:lpstr>
      <vt:lpstr>THE ACCOUNTING EQUATION </vt:lpstr>
      <vt:lpstr>Cont.</vt:lpstr>
      <vt:lpstr>Cont.</vt:lpstr>
      <vt:lpstr>Cont.</vt:lpstr>
      <vt:lpstr>Cont.</vt:lpstr>
      <vt:lpstr>PowerPoint Presentation</vt:lpstr>
      <vt:lpstr>PowerPoint Presentation</vt:lpstr>
      <vt:lpstr>Cont.</vt:lpstr>
      <vt:lpstr>Cont.</vt:lpstr>
      <vt:lpstr>Cont,</vt:lpstr>
      <vt:lpstr>PowerPoint Presentation</vt:lpstr>
      <vt:lpstr>BOOKS OF PRIME ENTRY/SINGLE ENTRY/ PRIMARY ENTRY </vt:lpstr>
      <vt:lpstr>SALES DAY BOOK/SALES JOURNAL </vt:lpstr>
      <vt:lpstr>Example: </vt:lpstr>
      <vt:lpstr>PURCHASES DAY BOOK </vt:lpstr>
      <vt:lpstr>Example </vt:lpstr>
      <vt:lpstr>RETURN DAY BOOKS </vt:lpstr>
      <vt:lpstr>RETURN INWARD Day BOOK </vt:lpstr>
      <vt:lpstr>Example </vt:lpstr>
      <vt:lpstr>RETURN OUTWARD DAY BOOK </vt:lpstr>
      <vt:lpstr>Example </vt:lpstr>
      <vt:lpstr>THE CASH BOOK </vt:lpstr>
      <vt:lpstr>Example:  </vt:lpstr>
      <vt:lpstr>Cont,</vt:lpstr>
      <vt:lpstr>Cont,</vt:lpstr>
      <vt:lpstr>Cont,</vt:lpstr>
      <vt:lpstr>ANALYTICAL PETTY CASH BOOK </vt:lpstr>
      <vt:lpstr>Cont,</vt:lpstr>
      <vt:lpstr>LAY OUT OF A PETTY CASH BOOK </vt:lpstr>
      <vt:lpstr>PROCEDURE</vt:lpstr>
      <vt:lpstr>Example: </vt:lpstr>
      <vt:lpstr>Cont,</vt:lpstr>
      <vt:lpstr>  COLUMNAR DAY BOOKS </vt:lpstr>
      <vt:lpstr>COLUMNAR PURCHASES DAY BOOK (PURCHASE ANALYSIS BOOK) </vt:lpstr>
      <vt:lpstr>Cont,</vt:lpstr>
      <vt:lpstr>COLUMNAR SALES DAY BOOK  </vt:lpstr>
      <vt:lpstr>Cont,</vt:lpstr>
      <vt:lpstr>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BEN</dc:creator>
  <cp:lastModifiedBy>Emmanuel Isabirye</cp:lastModifiedBy>
  <cp:revision>23</cp:revision>
  <dcterms:created xsi:type="dcterms:W3CDTF">2017-02-08T00:12:24Z</dcterms:created>
  <dcterms:modified xsi:type="dcterms:W3CDTF">2022-06-07T06:18:55Z</dcterms:modified>
</cp:coreProperties>
</file>